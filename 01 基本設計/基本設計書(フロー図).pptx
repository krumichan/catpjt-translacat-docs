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96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5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A6018E7-AAE2-2748-2E5E-2440B5D6F2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62714"/>
          </a:xfrm>
          <a:prstGeom prst="rect">
            <a:avLst/>
          </a:prstGeom>
          <a:noFill/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715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2301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</a:t>
            </a:r>
            <a:r>
              <a:rPr lang="en-US" sz="28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800" b="1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基本設計</a:t>
            </a:r>
            <a:endParaRPr lang="en-US" sz="2800" b="1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8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800" b="1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フロー図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720840" y="868680"/>
            <a:ext cx="4846320" cy="51663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95160" y="1097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構成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59168" y="1554480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42048" y="14996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全フローをネイティブ図形と線で作成</a:t>
            </a:r>
            <a:endParaRPr lang="en-US" sz="11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59168" y="2084832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42048" y="20299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長いフローは複数スライドに分割</a:t>
            </a:r>
            <a:endParaRPr lang="en-US" sz="11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59168" y="2615184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42048" y="2560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右側に補足説明を配置</a:t>
            </a:r>
            <a:endParaRPr lang="en-US" sz="11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59168" y="314553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42048" y="30906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Excel 設計書と組み合わせて利用可能</a:t>
            </a:r>
            <a:endParaRPr lang="en-US" sz="11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編集方針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・全てネイティブの図形と線で構成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・フローが長い機能は複数スライドへ分割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・右側に補足説明を配置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・画像ではないため PowerPoint 上で直接修正可能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PowerPoint repair warning を避けるため、単純な図形/線/テキストのみを使用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全体構成と責務分担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コード実装ベースの責務分担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105150" y="27432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5" y="1645920"/>
            <a:ext cx="3108960" cy="1828800"/>
          </a:xfrm>
          <a:prstGeom prst="roundRect">
            <a:avLst>
              <a:gd name="adj" fmla="val 3750"/>
            </a:avLst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4895" y="1929003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FE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Next.js / React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2614" y="2412111"/>
            <a:ext cx="1856232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・ログイン</a:t>
            </a:r>
            <a:b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・諸説検索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閲覧</a:t>
            </a:r>
            <a:endParaRPr lang="en-US" altLang="ja-JP" sz="108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・音声翻訳 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UI</a:t>
            </a:r>
            <a:b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・ブラウザ音声翻訳 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UI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53127" y="1645920"/>
            <a:ext cx="3108960" cy="18288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64380" y="1936623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BE (API Hub)</a:t>
            </a:r>
            <a:b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2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30674" y="2429255"/>
            <a:ext cx="2816352" cy="98336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・認証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(Google, JWT)</a:t>
            </a:r>
            <a:br>
              <a:rPr 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・スクレイピング</a:t>
            </a:r>
            <a:b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・テキスト翻訳要請</a:t>
            </a:r>
            <a:b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STT</a:t>
            </a: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要請</a:t>
            </a:r>
            <a:endParaRPr lang="en-US" altLang="ja-JP" sz="108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照会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保存</a:t>
            </a:r>
            <a:endParaRPr lang="en-US" altLang="ja-JP" sz="108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48675" y="1645920"/>
            <a:ext cx="3108960" cy="1828800"/>
          </a:xfrm>
          <a:prstGeom prst="roundRect">
            <a:avLst>
              <a:gd name="adj" fmla="val 3750"/>
            </a:avLst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54465" y="1938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FastAPI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92184" y="2231136"/>
            <a:ext cx="1947672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・テキスト翻訳処理</a:t>
            </a:r>
            <a:b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en-US" altLang="ja-JP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STT</a:t>
            </a: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処理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43602" y="4389120"/>
            <a:ext cx="3118105" cy="1463040"/>
          </a:xfrm>
          <a:prstGeom prst="roundRect">
            <a:avLst>
              <a:gd name="adj" fmla="val 4001"/>
            </a:avLst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67275" y="4664583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38319" y="5138166"/>
            <a:ext cx="2267712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8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データ管理</a:t>
            </a:r>
            <a:endParaRPr lang="en-US" sz="108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56425" y="4389120"/>
            <a:ext cx="3754001" cy="21579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79489" y="4572000"/>
            <a:ext cx="11925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設計メモ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52091" y="4892040"/>
            <a:ext cx="3458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• FE は画面表示・NextAuth・音声入力を担当。</a:t>
            </a:r>
            <a:endParaRPr lang="en-US" sz="10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52091" y="5239512"/>
            <a:ext cx="3458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• Spring Boot </a:t>
            </a:r>
            <a:r>
              <a:rPr lang="en-US" sz="106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は認証、スクレイピング、翻訳判定</a:t>
            </a: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、</a:t>
            </a:r>
            <a:b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  DB 保存のハブ。</a:t>
            </a:r>
            <a:endParaRPr lang="en-US" sz="10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52091" y="5586984"/>
            <a:ext cx="3458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• FastAPI は主にバッチ翻訳/STT を担当。</a:t>
            </a:r>
            <a:endParaRPr lang="en-US" sz="10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52091" y="5934456"/>
            <a:ext cx="3458335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• </a:t>
            </a:r>
            <a:r>
              <a:rPr lang="ja-JP" alt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簡単な翻訳</a:t>
            </a:r>
            <a:r>
              <a:rPr lang="en-US" altLang="ja-JP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(Novel</a:t>
            </a:r>
            <a:r>
              <a:rPr lang="ja-JP" alt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１個、音声翻訳 等</a:t>
            </a:r>
            <a:r>
              <a:rPr lang="en-US" altLang="ja-JP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106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は現状</a:t>
            </a:r>
            <a:r>
              <a:rPr lang="en-US" sz="106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Spring Boot から Gemini 直呼び。</a:t>
            </a:r>
            <a:endParaRPr lang="en-US" sz="10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A459AF1-7177-312D-0697-C97CA75C0830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557015" y="2560320"/>
            <a:ext cx="8961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1C0C770-E6A7-008B-BDAB-48E2C332F3E4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7562087" y="2560320"/>
            <a:ext cx="8865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ABBB53E-B545-6B20-1C66-778AAD128B8E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flipH="1">
            <a:off x="6002655" y="3474720"/>
            <a:ext cx="4952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認証フロー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 基本設計 フロー図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54406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利用者/NextAuth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5440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487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2011680" cy="5440680"/>
          </a:xfrm>
          <a:prstGeom prst="rect">
            <a:avLst/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655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011680" cy="5440680"/>
          </a:xfrm>
          <a:prstGeom prst="rect">
            <a:avLst/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Google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30352" y="1481328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5216" y="1554480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Google サインイン開始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65392" y="2042922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620256" y="2116074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idToken 発行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30352" y="2604516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85216" y="2677668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/auth/social/google 呼出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542032" y="3175635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596896" y="3248787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provider 判定 / strategy 選択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565392" y="3737229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620256" y="3810381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ID Token 検証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53712" y="4441698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608576" y="4514850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user_allowed / user / refresh_token 更新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542032" y="5050917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596896" y="5124069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JWT / Refresh Token 発行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30352" y="5726811"/>
            <a:ext cx="1682496" cy="38404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85216" y="5799963"/>
            <a:ext cx="1572768" cy="28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session 保存・画面遷移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549640" y="914400"/>
            <a:ext cx="3246120" cy="54406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714232" y="1024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補足説明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667750" y="1353312"/>
            <a:ext cx="298170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❹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OAuth2AuthenticationService が strategy を選択。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667750" y="1920240"/>
            <a:ext cx="298170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❺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GoogleIdTokenVerifier で署名と audience を検証。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667750" y="2487168"/>
            <a:ext cx="298170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❻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user_allowed 判定後に user/refresh_token を更新。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8667750" y="3054096"/>
            <a:ext cx="2981706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❼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UserLoginResponseDto を返却。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82" name="グラフィックス 81" descr="バッジ 1 単色塗りつぶし">
            <a:extLst>
              <a:ext uri="{FF2B5EF4-FFF2-40B4-BE49-F238E27FC236}">
                <a16:creationId xmlns:a16="http://schemas.microsoft.com/office/drawing/2014/main" id="{46C29365-95C3-539D-C4B5-E83CDCBD1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520" y="1520265"/>
            <a:ext cx="311583" cy="311583"/>
          </a:xfrm>
          <a:prstGeom prst="rect">
            <a:avLst/>
          </a:prstGeom>
        </p:spPr>
      </p:pic>
      <p:pic>
        <p:nvPicPr>
          <p:cNvPr id="84" name="グラフィックス 83" descr="バッジ 単色塗りつぶし">
            <a:extLst>
              <a:ext uri="{FF2B5EF4-FFF2-40B4-BE49-F238E27FC236}">
                <a16:creationId xmlns:a16="http://schemas.microsoft.com/office/drawing/2014/main" id="{C3F7986F-96A4-5B4B-D8EE-A4394B63C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3368" y="2093924"/>
            <a:ext cx="311583" cy="311583"/>
          </a:xfrm>
          <a:prstGeom prst="rect">
            <a:avLst/>
          </a:prstGeom>
        </p:spPr>
      </p:pic>
      <p:pic>
        <p:nvPicPr>
          <p:cNvPr id="86" name="グラフィックス 85" descr="バッジ 3 単色塗りつぶし">
            <a:extLst>
              <a:ext uri="{FF2B5EF4-FFF2-40B4-BE49-F238E27FC236}">
                <a16:creationId xmlns:a16="http://schemas.microsoft.com/office/drawing/2014/main" id="{B0149043-B71D-ACFE-6BEA-8DF369285D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264" y="2664116"/>
            <a:ext cx="311583" cy="311583"/>
          </a:xfrm>
          <a:prstGeom prst="rect">
            <a:avLst/>
          </a:prstGeom>
        </p:spPr>
      </p:pic>
      <p:pic>
        <p:nvPicPr>
          <p:cNvPr id="88" name="グラフィックス 87" descr="バッジ 4 単色塗りつぶし">
            <a:extLst>
              <a:ext uri="{FF2B5EF4-FFF2-40B4-BE49-F238E27FC236}">
                <a16:creationId xmlns:a16="http://schemas.microsoft.com/office/drawing/2014/main" id="{81BDC56E-98F4-2FB3-140B-1B04DF1214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35530" y="3233062"/>
            <a:ext cx="311583" cy="311583"/>
          </a:xfrm>
          <a:prstGeom prst="rect">
            <a:avLst/>
          </a:prstGeom>
        </p:spPr>
      </p:pic>
      <p:pic>
        <p:nvPicPr>
          <p:cNvPr id="90" name="グラフィックス 89" descr="バッジ 5 単色塗りつぶし">
            <a:extLst>
              <a:ext uri="{FF2B5EF4-FFF2-40B4-BE49-F238E27FC236}">
                <a16:creationId xmlns:a16="http://schemas.microsoft.com/office/drawing/2014/main" id="{E5AA82AE-4D33-CBA7-88CB-5B1341511F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3367" y="3773461"/>
            <a:ext cx="311583" cy="311583"/>
          </a:xfrm>
          <a:prstGeom prst="rect">
            <a:avLst/>
          </a:prstGeom>
        </p:spPr>
      </p:pic>
      <p:pic>
        <p:nvPicPr>
          <p:cNvPr id="92" name="グラフィックス 91" descr="バッジ 6 単色塗りつぶし">
            <a:extLst>
              <a:ext uri="{FF2B5EF4-FFF2-40B4-BE49-F238E27FC236}">
                <a16:creationId xmlns:a16="http://schemas.microsoft.com/office/drawing/2014/main" id="{C9C0CF12-42AD-1F8A-1F7D-AB3590652F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40885" y="4467221"/>
            <a:ext cx="311583" cy="311583"/>
          </a:xfrm>
          <a:prstGeom prst="rect">
            <a:avLst/>
          </a:prstGeom>
        </p:spPr>
      </p:pic>
      <p:pic>
        <p:nvPicPr>
          <p:cNvPr id="94" name="グラフィックス 93" descr="バッジ 7 単色塗りつぶし">
            <a:extLst>
              <a:ext uri="{FF2B5EF4-FFF2-40B4-BE49-F238E27FC236}">
                <a16:creationId xmlns:a16="http://schemas.microsoft.com/office/drawing/2014/main" id="{BD6AF910-4B46-BA2E-3B07-3511D55A63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17661" y="5105081"/>
            <a:ext cx="311583" cy="311583"/>
          </a:xfrm>
          <a:prstGeom prst="rect">
            <a:avLst/>
          </a:prstGeom>
        </p:spPr>
      </p:pic>
      <p:pic>
        <p:nvPicPr>
          <p:cNvPr id="96" name="グラフィックス 95" descr="バッジ 8 単色塗りつぶし">
            <a:extLst>
              <a:ext uri="{FF2B5EF4-FFF2-40B4-BE49-F238E27FC236}">
                <a16:creationId xmlns:a16="http://schemas.microsoft.com/office/drawing/2014/main" id="{01190C57-4B2E-2A81-C53A-21EB710AAB5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0519" y="5763043"/>
            <a:ext cx="311583" cy="311583"/>
          </a:xfrm>
          <a:prstGeom prst="rect">
            <a:avLst/>
          </a:prstGeom>
        </p:spPr>
      </p:pic>
      <p:pic>
        <p:nvPicPr>
          <p:cNvPr id="98" name="グラフィックス 97" descr="バッジ 9 単色塗りつぶし">
            <a:extLst>
              <a:ext uri="{FF2B5EF4-FFF2-40B4-BE49-F238E27FC236}">
                <a16:creationId xmlns:a16="http://schemas.microsoft.com/office/drawing/2014/main" id="{4D95E6DE-8E8B-AE0F-9BEF-DA3E0411676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659131" y="3092995"/>
            <a:ext cx="311583" cy="311583"/>
          </a:xfrm>
          <a:prstGeom prst="rect">
            <a:avLst/>
          </a:prstGeom>
        </p:spPr>
      </p:pic>
      <p:cxnSp>
        <p:nvCxnSpPr>
          <p:cNvPr id="100" name="コネクタ: カギ線 99">
            <a:extLst>
              <a:ext uri="{FF2B5EF4-FFF2-40B4-BE49-F238E27FC236}">
                <a16:creationId xmlns:a16="http://schemas.microsoft.com/office/drawing/2014/main" id="{7D47FD35-94EA-3D20-E229-7A40C75D0F62}"/>
              </a:ext>
            </a:extLst>
          </p:cNvPr>
          <p:cNvCxnSpPr>
            <a:stCxn id="38" idx="2"/>
            <a:endCxn id="42" idx="0"/>
          </p:cNvCxnSpPr>
          <p:nvPr/>
        </p:nvCxnSpPr>
        <p:spPr>
          <a:xfrm rot="16200000" flipH="1">
            <a:off x="4300347" y="-1063371"/>
            <a:ext cx="177546" cy="603504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235E3D5C-ECB7-BD77-DC74-5AE5E012FD9B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 rot="5400000">
            <a:off x="4300347" y="-501777"/>
            <a:ext cx="177546" cy="603504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2F191C4D-F7CD-079A-62DC-6A6099522CF8}"/>
              </a:ext>
            </a:extLst>
          </p:cNvPr>
          <p:cNvCxnSpPr>
            <a:cxnSpLocks/>
            <a:stCxn id="46" idx="2"/>
            <a:endCxn id="50" idx="0"/>
          </p:cNvCxnSpPr>
          <p:nvPr/>
        </p:nvCxnSpPr>
        <p:spPr>
          <a:xfrm rot="16200000" flipH="1">
            <a:off x="2283905" y="2076259"/>
            <a:ext cx="187071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5B4F172C-E0AB-5A54-1E6B-0A8FB2319D5F}"/>
              </a:ext>
            </a:extLst>
          </p:cNvPr>
          <p:cNvCxnSpPr>
            <a:cxnSpLocks/>
            <a:stCxn id="50" idx="2"/>
            <a:endCxn id="54" idx="0"/>
          </p:cNvCxnSpPr>
          <p:nvPr/>
        </p:nvCxnSpPr>
        <p:spPr>
          <a:xfrm rot="16200000" flipH="1">
            <a:off x="5306187" y="1636776"/>
            <a:ext cx="177546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B7EDACAF-C75D-D14D-03E9-78EE2195EC3D}"/>
              </a:ext>
            </a:extLst>
          </p:cNvPr>
          <p:cNvCxnSpPr>
            <a:cxnSpLocks/>
            <a:stCxn id="54" idx="2"/>
            <a:endCxn id="58" idx="0"/>
          </p:cNvCxnSpPr>
          <p:nvPr/>
        </p:nvCxnSpPr>
        <p:spPr>
          <a:xfrm rot="5400000">
            <a:off x="6240590" y="3275647"/>
            <a:ext cx="320421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B2766865-FB5F-BC31-F0A0-28DE96B101E1}"/>
              </a:ext>
            </a:extLst>
          </p:cNvPr>
          <p:cNvCxnSpPr>
            <a:cxnSpLocks/>
            <a:stCxn id="58" idx="2"/>
            <a:endCxn id="62" idx="0"/>
          </p:cNvCxnSpPr>
          <p:nvPr/>
        </p:nvCxnSpPr>
        <p:spPr>
          <a:xfrm rot="5400000">
            <a:off x="4276535" y="3932491"/>
            <a:ext cx="225171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FB14C449-2F70-FDF7-1F89-F17D12855B47}"/>
              </a:ext>
            </a:extLst>
          </p:cNvPr>
          <p:cNvCxnSpPr>
            <a:cxnSpLocks/>
            <a:stCxn id="62" idx="2"/>
            <a:endCxn id="66" idx="0"/>
          </p:cNvCxnSpPr>
          <p:nvPr/>
        </p:nvCxnSpPr>
        <p:spPr>
          <a:xfrm rot="5400000">
            <a:off x="2231517" y="4575048"/>
            <a:ext cx="291846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小説一覧・詳細の全体フロー（前半）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 基本設計 フロー図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54406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利用者/FE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5440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487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2011680" cy="5440680"/>
          </a:xfrm>
          <a:prstGeom prst="rect">
            <a:avLst/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655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011680" cy="5440680"/>
          </a:xfrm>
          <a:prstGeom prst="rect">
            <a:avLst/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外部小説サイト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30352" y="148132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5216" y="155448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一覧/詳細 API 呼出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42032" y="2176272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380183" y="2331720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596896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 / URL template / strategy 解決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53712" y="2871216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08576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platform / platform_url_template 取得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542032" y="3566160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80183" y="3721608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596896" y="36393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URL 生成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65392" y="4261104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620256" y="433425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HTML スクレイピング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542032" y="495604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380183" y="5111496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596896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Context 化（作品/話/ページ情報）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49640" y="914400"/>
            <a:ext cx="3246120" cy="54406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14232" y="1024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補足説明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714232" y="1353312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●</a:t>
            </a:r>
            <a:r>
              <a:rPr lang="ko-KR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一覧・検索・ランキング・詳細は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strategy + URL template </a:t>
            </a:r>
            <a:r>
              <a:rPr lang="en-US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方式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714232" y="1920240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● </a:t>
            </a:r>
            <a:r>
              <a:rPr lang="en-US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スクレイピング結果は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Context モデルに集約される。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63" name="グラフィックス 62" descr="バッジ 1 単色塗りつぶし">
            <a:extLst>
              <a:ext uri="{FF2B5EF4-FFF2-40B4-BE49-F238E27FC236}">
                <a16:creationId xmlns:a16="http://schemas.microsoft.com/office/drawing/2014/main" id="{0FC6A9CF-4130-6ED2-80E0-1C92E528B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520" y="1520265"/>
            <a:ext cx="311583" cy="311583"/>
          </a:xfrm>
          <a:prstGeom prst="rect">
            <a:avLst/>
          </a:prstGeom>
        </p:spPr>
      </p:pic>
      <p:pic>
        <p:nvPicPr>
          <p:cNvPr id="64" name="グラフィックス 63" descr="バッジ 単色塗りつぶし">
            <a:extLst>
              <a:ext uri="{FF2B5EF4-FFF2-40B4-BE49-F238E27FC236}">
                <a16:creationId xmlns:a16="http://schemas.microsoft.com/office/drawing/2014/main" id="{6CCAECCD-5E08-7631-BDCA-54A7FAB1D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5817" y="2258262"/>
            <a:ext cx="311583" cy="311583"/>
          </a:xfrm>
          <a:prstGeom prst="rect">
            <a:avLst/>
          </a:prstGeom>
        </p:spPr>
      </p:pic>
      <p:pic>
        <p:nvPicPr>
          <p:cNvPr id="65" name="グラフィックス 64" descr="バッジ 3 単色塗りつぶし">
            <a:extLst>
              <a:ext uri="{FF2B5EF4-FFF2-40B4-BE49-F238E27FC236}">
                <a16:creationId xmlns:a16="http://schemas.microsoft.com/office/drawing/2014/main" id="{C1730097-972E-B965-449D-C4B3AF4D4F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3989" y="2949434"/>
            <a:ext cx="311583" cy="311583"/>
          </a:xfrm>
          <a:prstGeom prst="rect">
            <a:avLst/>
          </a:prstGeom>
        </p:spPr>
      </p:pic>
      <p:pic>
        <p:nvPicPr>
          <p:cNvPr id="66" name="グラフィックス 65" descr="バッジ 4 単色塗りつぶし">
            <a:extLst>
              <a:ext uri="{FF2B5EF4-FFF2-40B4-BE49-F238E27FC236}">
                <a16:creationId xmlns:a16="http://schemas.microsoft.com/office/drawing/2014/main" id="{1A45B1D6-3725-D720-7B5E-05A38166B0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51455" y="3642712"/>
            <a:ext cx="311583" cy="311583"/>
          </a:xfrm>
          <a:prstGeom prst="rect">
            <a:avLst/>
          </a:prstGeom>
        </p:spPr>
      </p:pic>
      <p:pic>
        <p:nvPicPr>
          <p:cNvPr id="67" name="グラフィックス 66" descr="バッジ 5 単色塗りつぶし">
            <a:extLst>
              <a:ext uri="{FF2B5EF4-FFF2-40B4-BE49-F238E27FC236}">
                <a16:creationId xmlns:a16="http://schemas.microsoft.com/office/drawing/2014/main" id="{59A3B200-1472-29D3-69D8-34D9FCD5BF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3367" y="4334256"/>
            <a:ext cx="311583" cy="311583"/>
          </a:xfrm>
          <a:prstGeom prst="rect">
            <a:avLst/>
          </a:prstGeom>
        </p:spPr>
      </p:pic>
      <p:pic>
        <p:nvPicPr>
          <p:cNvPr id="68" name="グラフィックス 67" descr="バッジ 6 単色塗りつぶし">
            <a:extLst>
              <a:ext uri="{FF2B5EF4-FFF2-40B4-BE49-F238E27FC236}">
                <a16:creationId xmlns:a16="http://schemas.microsoft.com/office/drawing/2014/main" id="{325DC23E-381E-C617-872B-0B10A38094B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0180" y="5029200"/>
            <a:ext cx="311583" cy="311583"/>
          </a:xfrm>
          <a:prstGeom prst="rect">
            <a:avLst/>
          </a:prstGeom>
        </p:spPr>
      </p:pic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3653CA27-49A6-36A4-ECA3-41A6AF42A150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 rot="16200000" flipH="1">
            <a:off x="2276856" y="1069848"/>
            <a:ext cx="201168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B15DCF6C-937C-0915-22EE-C716EF91A8C2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rot="16200000" flipH="1">
            <a:off x="4288536" y="1764792"/>
            <a:ext cx="201168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FB7F75C9-A7C6-8AA6-962D-0215661D9C46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 rot="5400000">
            <a:off x="4288536" y="2459736"/>
            <a:ext cx="201168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802A5C93-E026-648F-FD93-A6C470BCF4A1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 rot="16200000" flipH="1">
            <a:off x="5294376" y="2148840"/>
            <a:ext cx="201168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19C86153-B89C-9878-71DE-2BA4694D3AE2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rot="5400000">
            <a:off x="5294376" y="2843784"/>
            <a:ext cx="201168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5A137E8C-DB99-A4B1-7849-4FA67DC43BFC}"/>
              </a:ext>
            </a:extLst>
          </p:cNvPr>
          <p:cNvCxnSpPr>
            <a:cxnSpLocks/>
            <a:stCxn id="52" idx="2"/>
            <a:endCxn id="18" idx="0"/>
          </p:cNvCxnSpPr>
          <p:nvPr/>
        </p:nvCxnSpPr>
        <p:spPr>
          <a:xfrm rot="16200000" flipH="1">
            <a:off x="4338238" y="4494866"/>
            <a:ext cx="101764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Shape 38">
            <a:extLst>
              <a:ext uri="{FF2B5EF4-FFF2-40B4-BE49-F238E27FC236}">
                <a16:creationId xmlns:a16="http://schemas.microsoft.com/office/drawing/2014/main" id="{79987D6E-D32F-FD28-1AFA-937A148911B8}"/>
              </a:ext>
            </a:extLst>
          </p:cNvPr>
          <p:cNvSpPr/>
          <p:nvPr/>
        </p:nvSpPr>
        <p:spPr>
          <a:xfrm>
            <a:off x="4553712" y="555158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 anchor="ctr"/>
          <a:lstStyle/>
          <a:p>
            <a:pPr algn="ctr"/>
            <a:r>
              <a:rPr lang="ja-JP" altLang="en-US" sz="1020" b="1" dirty="0">
                <a:latin typeface="Meiryo" panose="020B0604030504040204" pitchFamily="34" charset="-128"/>
                <a:ea typeface="Meiryo" panose="020B0604030504040204" pitchFamily="34" charset="-128"/>
              </a:rPr>
              <a:t>次ページ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小説一覧・詳細の全体フロー（後半）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 基本設計 フロー図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54406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 err="1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利用者</a:t>
            </a:r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/FE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5440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487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2011680" cy="5440680"/>
          </a:xfrm>
          <a:prstGeom prst="rect">
            <a:avLst/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655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011680" cy="5440680"/>
          </a:xfrm>
          <a:prstGeom prst="rect">
            <a:avLst/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 err="1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FastAPI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0857" y="148132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09008" y="1636776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25721" y="155448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existing novel/episode/content 取得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78227" y="2176272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633091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差分 TranslationUnit 抽出 + ルビ付与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73012" y="2871216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7876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/translate/batch 実行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(少量時 Gemini fallback)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0857" y="3566160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09008" y="3721608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625721" y="36393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novel / episode / content / recent_view 同期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578227" y="4261104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633091" y="433425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DTO 整形して返却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36067" y="495604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0931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一覧/本文レンダリング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49640" y="914400"/>
            <a:ext cx="3246120" cy="54406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14232" y="1024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補足説明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714232" y="1353312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● </a:t>
            </a:r>
            <a:r>
              <a:rPr lang="en-US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本文取得では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episode_content を全再構築する。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714232" y="1920240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● </a:t>
            </a:r>
            <a:r>
              <a:rPr lang="en-US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TranslationExecutor</a:t>
            </a: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は件数1件以下では Gemini へ切替。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63" name="グラフィックス 62" descr="バッジ 1 単色塗りつぶし">
            <a:extLst>
              <a:ext uri="{FF2B5EF4-FFF2-40B4-BE49-F238E27FC236}">
                <a16:creationId xmlns:a16="http://schemas.microsoft.com/office/drawing/2014/main" id="{9CD53E67-CDE3-0204-F651-A6D0E213E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633" y="1560550"/>
            <a:ext cx="311583" cy="311583"/>
          </a:xfrm>
          <a:prstGeom prst="rect">
            <a:avLst/>
          </a:prstGeom>
        </p:spPr>
      </p:pic>
      <p:pic>
        <p:nvPicPr>
          <p:cNvPr id="64" name="グラフィックス 63" descr="バッジ 単色塗りつぶし">
            <a:extLst>
              <a:ext uri="{FF2B5EF4-FFF2-40B4-BE49-F238E27FC236}">
                <a16:creationId xmlns:a16="http://schemas.microsoft.com/office/drawing/2014/main" id="{BC45F62E-60CD-2FDE-99A3-6060B570C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8067" y="2267368"/>
            <a:ext cx="311583" cy="311583"/>
          </a:xfrm>
          <a:prstGeom prst="rect">
            <a:avLst/>
          </a:prstGeom>
        </p:spPr>
      </p:pic>
      <p:pic>
        <p:nvPicPr>
          <p:cNvPr id="65" name="グラフィックス 64" descr="バッジ 3 単色塗りつぶし">
            <a:extLst>
              <a:ext uri="{FF2B5EF4-FFF2-40B4-BE49-F238E27FC236}">
                <a16:creationId xmlns:a16="http://schemas.microsoft.com/office/drawing/2014/main" id="{5AFF2076-167D-E855-A623-021CCE928E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3289" y="2949434"/>
            <a:ext cx="311583" cy="311583"/>
          </a:xfrm>
          <a:prstGeom prst="rect">
            <a:avLst/>
          </a:prstGeom>
        </p:spPr>
      </p:pic>
      <p:pic>
        <p:nvPicPr>
          <p:cNvPr id="66" name="グラフィックス 65" descr="バッジ 4 単色塗りつぶし">
            <a:extLst>
              <a:ext uri="{FF2B5EF4-FFF2-40B4-BE49-F238E27FC236}">
                <a16:creationId xmlns:a16="http://schemas.microsoft.com/office/drawing/2014/main" id="{02B6FAA2-6CB7-D37E-134C-7AF2C50160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1571" y="3642712"/>
            <a:ext cx="311583" cy="311583"/>
          </a:xfrm>
          <a:prstGeom prst="rect">
            <a:avLst/>
          </a:prstGeom>
        </p:spPr>
      </p:pic>
      <p:pic>
        <p:nvPicPr>
          <p:cNvPr id="67" name="グラフィックス 66" descr="バッジ 5 単色塗りつぶし">
            <a:extLst>
              <a:ext uri="{FF2B5EF4-FFF2-40B4-BE49-F238E27FC236}">
                <a16:creationId xmlns:a16="http://schemas.microsoft.com/office/drawing/2014/main" id="{C1B60929-5345-4180-1AC7-AA83BDE718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6489" y="4340218"/>
            <a:ext cx="311583" cy="311583"/>
          </a:xfrm>
          <a:prstGeom prst="rect">
            <a:avLst/>
          </a:prstGeom>
        </p:spPr>
      </p:pic>
      <p:pic>
        <p:nvPicPr>
          <p:cNvPr id="68" name="グラフィックス 67" descr="バッジ 6 単色塗りつぶし">
            <a:extLst>
              <a:ext uri="{FF2B5EF4-FFF2-40B4-BE49-F238E27FC236}">
                <a16:creationId xmlns:a16="http://schemas.microsoft.com/office/drawing/2014/main" id="{1434C582-7387-D166-AE38-C4E95F4FE7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696" y="5047144"/>
            <a:ext cx="311583" cy="311583"/>
          </a:xfrm>
          <a:prstGeom prst="rect">
            <a:avLst/>
          </a:prstGeom>
        </p:spPr>
      </p:pic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E016A85A-9B3E-5FBA-055D-794FD2B1C4D5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 rot="5400000">
            <a:off x="4315206" y="1079373"/>
            <a:ext cx="201168" cy="19926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CCC27B6E-8109-3BDE-A19D-28F60132E89A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rot="16200000" flipH="1">
            <a:off x="5316283" y="773239"/>
            <a:ext cx="201168" cy="399478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4E473B5E-71E4-4769-F73F-74D82B9F707E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 rot="5400000">
            <a:off x="6312599" y="2464499"/>
            <a:ext cx="201168" cy="200215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1CD7BA7F-22C7-36BD-9237-44375F3F1229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 rot="5400000">
            <a:off x="4315206" y="3164205"/>
            <a:ext cx="201168" cy="19926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1" name="コネクタ: カギ線 80">
            <a:extLst>
              <a:ext uri="{FF2B5EF4-FFF2-40B4-BE49-F238E27FC236}">
                <a16:creationId xmlns:a16="http://schemas.microsoft.com/office/drawing/2014/main" id="{B5287A1C-825F-FF6B-BBBA-0B2192D4326A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rot="5400000">
            <a:off x="2297811" y="3834384"/>
            <a:ext cx="201168" cy="20421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翻訳キャッシュ判定と保存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 基本設計 フロー図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54406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 err="1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利用者</a:t>
            </a:r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/FE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5440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487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2011680" cy="5440680"/>
          </a:xfrm>
          <a:prstGeom prst="rect">
            <a:avLst/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655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011680" cy="5440680"/>
          </a:xfrm>
          <a:prstGeom prst="rect">
            <a:avLst/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100" b="1" dirty="0" err="1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FastAPI</a:t>
            </a:r>
            <a:endParaRPr lang="en-US" altLang="ja-JP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0857" y="201472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25721" y="208788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Identifier / content</a:t>
            </a: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で</a:t>
            </a:r>
            <a:endParaRPr lang="en-US" altLang="ja-JP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既存データ取得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78227" y="134797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633091" y="142113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スクレイピング結果を</a:t>
            </a:r>
            <a:endParaRPr lang="en-US" altLang="ja-JP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Context</a:t>
            </a:r>
            <a:r>
              <a:rPr lang="ja-JP" altLang="en-US" sz="1020" dirty="0">
                <a:latin typeface="Meiryo" panose="020B0604030504040204" pitchFamily="34" charset="-128"/>
                <a:ea typeface="Meiryo" panose="020B0604030504040204" pitchFamily="34" charset="-128"/>
              </a:rPr>
              <a:t>化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73012" y="4528566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7876" y="4601718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バッチ翻訳を実行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0857" y="5204460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09008" y="3721608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625721" y="52776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altLang="ja-JP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INSERT / UPDATE /</a:t>
            </a:r>
          </a:p>
          <a:p>
            <a:pPr marL="0" indent="0" algn="ctr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全権再構築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578227" y="3863341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633091" y="3936493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差分あり：</a:t>
            </a:r>
            <a:r>
              <a:rPr lang="en-US" altLang="ja-JP" sz="1020" dirty="0" err="1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TranslationUnit</a:t>
            </a: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を収集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36067" y="585139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0931" y="592455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最新</a:t>
            </a:r>
            <a:r>
              <a:rPr lang="en-US" altLang="ja-JP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Context</a:t>
            </a: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</a:t>
            </a:r>
            <a:endParaRPr lang="en-US" altLang="ja-JP" sz="102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DTO</a:t>
            </a: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へ反映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49640" y="914400"/>
            <a:ext cx="3246120" cy="54406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714232" y="1024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補足説明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714232" y="1353312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❸　原文、翻訳本　等で判定。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714232" y="1920240"/>
            <a:ext cx="29352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❼　行数などの更新可能性があるため、</a:t>
            </a:r>
            <a:endParaRPr lang="en-US" altLang="ja-JP" sz="1020" dirty="0">
              <a:solidFill>
                <a:srgbClr val="1F2937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　全件再構築を行う。</a:t>
            </a:r>
            <a:endParaRPr lang="en-US" altLang="ja-JP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4E473B5E-71E4-4769-F73F-74D82B9F707E}"/>
              </a:ext>
            </a:extLst>
          </p:cNvPr>
          <p:cNvCxnSpPr>
            <a:cxnSpLocks/>
            <a:stCxn id="36" idx="2"/>
            <a:endCxn id="32" idx="0"/>
          </p:cNvCxnSpPr>
          <p:nvPr/>
        </p:nvCxnSpPr>
        <p:spPr>
          <a:xfrm rot="16200000" flipH="1">
            <a:off x="4329303" y="931926"/>
            <a:ext cx="172974" cy="19926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Shape 34">
            <a:extLst>
              <a:ext uri="{FF2B5EF4-FFF2-40B4-BE49-F238E27FC236}">
                <a16:creationId xmlns:a16="http://schemas.microsoft.com/office/drawing/2014/main" id="{C3EA028C-3E7D-C0B8-AC33-0C67FBC4B6C7}"/>
              </a:ext>
            </a:extLst>
          </p:cNvPr>
          <p:cNvSpPr/>
          <p:nvPr/>
        </p:nvSpPr>
        <p:spPr>
          <a:xfrm>
            <a:off x="2578227" y="2684526"/>
            <a:ext cx="1682496" cy="493776"/>
          </a:xfrm>
          <a:prstGeom prst="roundRect">
            <a:avLst>
              <a:gd name="adj" fmla="val 11111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37">
            <a:extLst>
              <a:ext uri="{FF2B5EF4-FFF2-40B4-BE49-F238E27FC236}">
                <a16:creationId xmlns:a16="http://schemas.microsoft.com/office/drawing/2014/main" id="{EEB5AF38-1233-0DA5-3A59-1CD889FE03A3}"/>
              </a:ext>
            </a:extLst>
          </p:cNvPr>
          <p:cNvSpPr/>
          <p:nvPr/>
        </p:nvSpPr>
        <p:spPr>
          <a:xfrm>
            <a:off x="2633091" y="2757678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b="1" dirty="0">
                <a:latin typeface="Meiryo" panose="020B0604030504040204" pitchFamily="34" charset="-128"/>
                <a:ea typeface="Meiryo" panose="020B0604030504040204" pitchFamily="34" charset="-128"/>
              </a:rPr>
              <a:t>差分があるか判定</a:t>
            </a:r>
            <a:endParaRPr lang="en-US" sz="102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46">
            <a:extLst>
              <a:ext uri="{FF2B5EF4-FFF2-40B4-BE49-F238E27FC236}">
                <a16:creationId xmlns:a16="http://schemas.microsoft.com/office/drawing/2014/main" id="{383AA44A-A8F5-E1B0-A5CA-E4F189533F24}"/>
              </a:ext>
            </a:extLst>
          </p:cNvPr>
          <p:cNvSpPr/>
          <p:nvPr/>
        </p:nvSpPr>
        <p:spPr>
          <a:xfrm>
            <a:off x="2578227" y="3270124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49">
            <a:extLst>
              <a:ext uri="{FF2B5EF4-FFF2-40B4-BE49-F238E27FC236}">
                <a16:creationId xmlns:a16="http://schemas.microsoft.com/office/drawing/2014/main" id="{6EEC2D22-DC05-116B-5A23-31A596827A07}"/>
              </a:ext>
            </a:extLst>
          </p:cNvPr>
          <p:cNvSpPr/>
          <p:nvPr/>
        </p:nvSpPr>
        <p:spPr>
          <a:xfrm>
            <a:off x="2633091" y="334327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ja-JP" alt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差分なし：既存訳を再利用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9CF4FD70-3D93-F855-973D-0175DC0DB1F0}"/>
              </a:ext>
            </a:extLst>
          </p:cNvPr>
          <p:cNvCxnSpPr>
            <a:cxnSpLocks/>
            <a:stCxn id="32" idx="2"/>
            <a:endCxn id="17" idx="0"/>
          </p:cNvCxnSpPr>
          <p:nvPr/>
        </p:nvCxnSpPr>
        <p:spPr>
          <a:xfrm rot="5400000">
            <a:off x="4327779" y="1600200"/>
            <a:ext cx="176022" cy="19926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6371AC4-1A4C-B27A-154E-3A7D727B5F4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419475" y="3178302"/>
            <a:ext cx="0" cy="918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D2A8785-AEBB-5EED-92D3-9DE83198302B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3419475" y="3763900"/>
            <a:ext cx="0" cy="994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210C6AC-1F8D-7596-C2E6-E3994EB9339C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 rot="16200000" flipH="1">
            <a:off x="5331143" y="2445448"/>
            <a:ext cx="171449" cy="399478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9140FAFA-8144-EB82-CF4A-FB91F98B14AE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 rot="5400000">
            <a:off x="6322124" y="4112324"/>
            <a:ext cx="182118" cy="200215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29389068-FC27-D363-B529-AE07DFB6FD13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 rot="5400000">
            <a:off x="3318129" y="3757422"/>
            <a:ext cx="153162" cy="403479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53" name="グラフィックス 52" descr="バッジ 1 単色塗りつぶし">
            <a:extLst>
              <a:ext uri="{FF2B5EF4-FFF2-40B4-BE49-F238E27FC236}">
                <a16:creationId xmlns:a16="http://schemas.microsoft.com/office/drawing/2014/main" id="{8CFC2432-D8D9-CE07-162E-CD3AC0DA5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7346" y="1425016"/>
            <a:ext cx="311583" cy="311583"/>
          </a:xfrm>
          <a:prstGeom prst="rect">
            <a:avLst/>
          </a:prstGeom>
        </p:spPr>
      </p:pic>
      <p:pic>
        <p:nvPicPr>
          <p:cNvPr id="54" name="グラフィックス 53" descr="バッジ 単色塗りつぶし">
            <a:extLst>
              <a:ext uri="{FF2B5EF4-FFF2-40B4-BE49-F238E27FC236}">
                <a16:creationId xmlns:a16="http://schemas.microsoft.com/office/drawing/2014/main" id="{7234E035-08EB-A772-59C6-4F004F5D24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0775" y="2093924"/>
            <a:ext cx="311583" cy="311583"/>
          </a:xfrm>
          <a:prstGeom prst="rect">
            <a:avLst/>
          </a:prstGeom>
        </p:spPr>
      </p:pic>
      <p:pic>
        <p:nvPicPr>
          <p:cNvPr id="58" name="グラフィックス 57" descr="バッジ 3 単色塗りつぶし">
            <a:extLst>
              <a:ext uri="{FF2B5EF4-FFF2-40B4-BE49-F238E27FC236}">
                <a16:creationId xmlns:a16="http://schemas.microsoft.com/office/drawing/2014/main" id="{C7DFCEE9-5610-0D22-6A65-DD1BDE6F0A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60180" y="2797378"/>
            <a:ext cx="311583" cy="311583"/>
          </a:xfrm>
          <a:prstGeom prst="rect">
            <a:avLst/>
          </a:prstGeom>
        </p:spPr>
      </p:pic>
      <p:pic>
        <p:nvPicPr>
          <p:cNvPr id="60" name="グラフィックス 59" descr="バッジ 4 単色塗りつぶし">
            <a:extLst>
              <a:ext uri="{FF2B5EF4-FFF2-40B4-BE49-F238E27FC236}">
                <a16:creationId xmlns:a16="http://schemas.microsoft.com/office/drawing/2014/main" id="{B3BFD702-714B-DDC1-EB29-3CB6294DC4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61057" y="3368116"/>
            <a:ext cx="311583" cy="311583"/>
          </a:xfrm>
          <a:prstGeom prst="rect">
            <a:avLst/>
          </a:prstGeom>
        </p:spPr>
      </p:pic>
      <p:pic>
        <p:nvPicPr>
          <p:cNvPr id="70" name="グラフィックス 69" descr="バッジ 5 単色塗りつぶし">
            <a:extLst>
              <a:ext uri="{FF2B5EF4-FFF2-40B4-BE49-F238E27FC236}">
                <a16:creationId xmlns:a16="http://schemas.microsoft.com/office/drawing/2014/main" id="{647C1BF0-28FA-4638-03C6-458F2A3F44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3266" y="3954437"/>
            <a:ext cx="311583" cy="311583"/>
          </a:xfrm>
          <a:prstGeom prst="rect">
            <a:avLst/>
          </a:prstGeom>
        </p:spPr>
      </p:pic>
      <p:pic>
        <p:nvPicPr>
          <p:cNvPr id="71" name="グラフィックス 70" descr="バッジ 6 単色塗りつぶし">
            <a:extLst>
              <a:ext uri="{FF2B5EF4-FFF2-40B4-BE49-F238E27FC236}">
                <a16:creationId xmlns:a16="http://schemas.microsoft.com/office/drawing/2014/main" id="{5C6A9DC2-A9A5-5278-E830-83C7831006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3881" y="4619661"/>
            <a:ext cx="311583" cy="311583"/>
          </a:xfrm>
          <a:prstGeom prst="rect">
            <a:avLst/>
          </a:prstGeom>
        </p:spPr>
      </p:pic>
      <p:pic>
        <p:nvPicPr>
          <p:cNvPr id="73" name="グラフィックス 72" descr="バッジ 7 単色塗りつぶし">
            <a:extLst>
              <a:ext uri="{FF2B5EF4-FFF2-40B4-BE49-F238E27FC236}">
                <a16:creationId xmlns:a16="http://schemas.microsoft.com/office/drawing/2014/main" id="{32B022E4-4F50-CAF1-757C-C1AE04A4A6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85005" y="5295557"/>
            <a:ext cx="311583" cy="311583"/>
          </a:xfrm>
          <a:prstGeom prst="rect">
            <a:avLst/>
          </a:prstGeom>
        </p:spPr>
      </p:pic>
      <p:pic>
        <p:nvPicPr>
          <p:cNvPr id="74" name="グラフィックス 73" descr="バッジ 8 単色塗りつぶし">
            <a:extLst>
              <a:ext uri="{FF2B5EF4-FFF2-40B4-BE49-F238E27FC236}">
                <a16:creationId xmlns:a16="http://schemas.microsoft.com/office/drawing/2014/main" id="{BEA452EE-8F0D-70D1-D1D5-21785E86117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0519" y="5934188"/>
            <a:ext cx="311583" cy="31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1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音声翻訳の全体フロー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TranslaCat 基本設計 フロー図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54406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利用者/FE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11680" cy="5440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487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Spring Boot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2011680" cy="5440680"/>
          </a:xfrm>
          <a:prstGeom prst="rect">
            <a:avLst/>
          </a:prstGeom>
          <a:solidFill>
            <a:srgbClr val="EAF7EE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655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DB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011680" cy="5440680"/>
          </a:xfrm>
          <a:prstGeom prst="rect">
            <a:avLst/>
          </a:prstGeom>
          <a:solidFill>
            <a:srgbClr val="FDEFE5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011680" cy="384048"/>
          </a:xfrm>
          <a:prstGeom prst="rect">
            <a:avLst/>
          </a:prstGeom>
          <a:solidFill>
            <a:srgbClr val="DCE6F1"/>
          </a:solidFill>
          <a:ln w="12700">
            <a:solidFill>
              <a:srgbClr val="9FBAD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016127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Gemini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0352" y="148132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5216" y="155448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ブラウザ音声認識 / Worker で文抽出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" y="2176272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5216" y="2249424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/voice/translate 呼出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42032" y="2871216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80183" y="3026664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596896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翻訳 + ルビ生成を並列開始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565392" y="3566160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20256" y="36393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VOICE ルールで翻訳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542032" y="4261104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80183" y="4416552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596896" y="433425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TranslationUnit 作成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VoiceTranslationEvent 発行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53712" y="4956048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608576" y="5029200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voice_history_group / voice_history 非同期保存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30352" y="5650992"/>
            <a:ext cx="16824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85216" y="5724144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翻訳結果逐次表示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549640" y="914400"/>
            <a:ext cx="3246120" cy="54406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714232" y="1024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補足説明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714232" y="1399032"/>
            <a:ext cx="82296" cy="822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860536" y="1353312"/>
            <a:ext cx="27889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音声翻訳は FastAPI ではなく AiGeminiClient を直接利用。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8714232" y="1965960"/>
            <a:ext cx="82296" cy="8229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860536" y="1920240"/>
            <a:ext cx="27889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履歴保存は @Async + REQUIRES_NEW。</a:t>
            </a:r>
            <a:endParaRPr lang="en-US" sz="10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68" name="グラフィックス 67" descr="バッジ 1 単色塗りつぶし">
            <a:extLst>
              <a:ext uri="{FF2B5EF4-FFF2-40B4-BE49-F238E27FC236}">
                <a16:creationId xmlns:a16="http://schemas.microsoft.com/office/drawing/2014/main" id="{BBB95C66-5530-4EB6-C133-4EC0FCEEF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520" y="1554480"/>
            <a:ext cx="311583" cy="311583"/>
          </a:xfrm>
          <a:prstGeom prst="rect">
            <a:avLst/>
          </a:prstGeom>
        </p:spPr>
      </p:pic>
      <p:pic>
        <p:nvPicPr>
          <p:cNvPr id="69" name="グラフィックス 68" descr="バッジ 単色塗りつぶし">
            <a:extLst>
              <a:ext uri="{FF2B5EF4-FFF2-40B4-BE49-F238E27FC236}">
                <a16:creationId xmlns:a16="http://schemas.microsoft.com/office/drawing/2014/main" id="{44AF90CB-B8DF-054A-0A15-197DE292A6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817" y="2276512"/>
            <a:ext cx="311583" cy="311583"/>
          </a:xfrm>
          <a:prstGeom prst="rect">
            <a:avLst/>
          </a:prstGeom>
        </p:spPr>
      </p:pic>
      <p:pic>
        <p:nvPicPr>
          <p:cNvPr id="70" name="グラフィックス 69" descr="バッジ 3 単色塗りつぶし">
            <a:extLst>
              <a:ext uri="{FF2B5EF4-FFF2-40B4-BE49-F238E27FC236}">
                <a16:creationId xmlns:a16="http://schemas.microsoft.com/office/drawing/2014/main" id="{22DF6D18-7169-A8B8-A83D-00ACB4582D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33548" y="2987444"/>
            <a:ext cx="311583" cy="311583"/>
          </a:xfrm>
          <a:prstGeom prst="rect">
            <a:avLst/>
          </a:prstGeom>
        </p:spPr>
      </p:pic>
      <p:pic>
        <p:nvPicPr>
          <p:cNvPr id="71" name="グラフィックス 70" descr="バッジ 4 単色塗りつぶし">
            <a:extLst>
              <a:ext uri="{FF2B5EF4-FFF2-40B4-BE49-F238E27FC236}">
                <a16:creationId xmlns:a16="http://schemas.microsoft.com/office/drawing/2014/main" id="{000AB3EC-6B39-F00B-0688-A46AC9E32E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393" y="3670972"/>
            <a:ext cx="311583" cy="311583"/>
          </a:xfrm>
          <a:prstGeom prst="rect">
            <a:avLst/>
          </a:prstGeom>
        </p:spPr>
      </p:pic>
      <p:pic>
        <p:nvPicPr>
          <p:cNvPr id="72" name="グラフィックス 71" descr="バッジ 5 単色塗りつぶし">
            <a:extLst>
              <a:ext uri="{FF2B5EF4-FFF2-40B4-BE49-F238E27FC236}">
                <a16:creationId xmlns:a16="http://schemas.microsoft.com/office/drawing/2014/main" id="{D9DFCC7E-0C87-85D3-4626-35A0EF2718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03945" y="4348306"/>
            <a:ext cx="311583" cy="311583"/>
          </a:xfrm>
          <a:prstGeom prst="rect">
            <a:avLst/>
          </a:prstGeom>
        </p:spPr>
      </p:pic>
      <p:pic>
        <p:nvPicPr>
          <p:cNvPr id="73" name="グラフィックス 72" descr="バッジ 6 単色塗りつぶし">
            <a:extLst>
              <a:ext uri="{FF2B5EF4-FFF2-40B4-BE49-F238E27FC236}">
                <a16:creationId xmlns:a16="http://schemas.microsoft.com/office/drawing/2014/main" id="{C11B5267-3067-19A5-5188-43FA74DAF2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5624" y="5066491"/>
            <a:ext cx="311583" cy="311583"/>
          </a:xfrm>
          <a:prstGeom prst="rect">
            <a:avLst/>
          </a:prstGeom>
        </p:spPr>
      </p:pic>
      <p:pic>
        <p:nvPicPr>
          <p:cNvPr id="74" name="グラフィックス 73" descr="バッジ 7 単色塗りつぶし">
            <a:extLst>
              <a:ext uri="{FF2B5EF4-FFF2-40B4-BE49-F238E27FC236}">
                <a16:creationId xmlns:a16="http://schemas.microsoft.com/office/drawing/2014/main" id="{BD08FED4-1EA0-78D7-693B-1B58A1FB33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0519" y="5727686"/>
            <a:ext cx="311583" cy="311583"/>
          </a:xfrm>
          <a:prstGeom prst="rect">
            <a:avLst/>
          </a:prstGeom>
        </p:spPr>
      </p:pic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D8D5A76-D381-26B1-D237-BE543F38141B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>
            <a:off x="1371600" y="1975104"/>
            <a:ext cx="0" cy="20116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7" name="コネクタ: カギ線 76">
            <a:extLst>
              <a:ext uri="{FF2B5EF4-FFF2-40B4-BE49-F238E27FC236}">
                <a16:creationId xmlns:a16="http://schemas.microsoft.com/office/drawing/2014/main" id="{2F9BF358-F490-1920-253D-B7D63686943B}"/>
              </a:ext>
            </a:extLst>
          </p:cNvPr>
          <p:cNvCxnSpPr>
            <a:cxnSpLocks/>
            <a:stCxn id="37" idx="2"/>
            <a:endCxn id="41" idx="0"/>
          </p:cNvCxnSpPr>
          <p:nvPr/>
        </p:nvCxnSpPr>
        <p:spPr>
          <a:xfrm rot="16200000" flipH="1">
            <a:off x="2276856" y="1764792"/>
            <a:ext cx="201168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F8A7FE77-EC2D-B562-6FF4-E4A899D55951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 rot="16200000" flipH="1">
            <a:off x="5294376" y="1453896"/>
            <a:ext cx="201168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C0BB4575-4C43-5159-38BE-68013E740559}"/>
              </a:ext>
            </a:extLst>
          </p:cNvPr>
          <p:cNvCxnSpPr>
            <a:cxnSpLocks/>
            <a:stCxn id="45" idx="2"/>
            <a:endCxn id="49" idx="0"/>
          </p:cNvCxnSpPr>
          <p:nvPr/>
        </p:nvCxnSpPr>
        <p:spPr>
          <a:xfrm rot="5400000">
            <a:off x="5294376" y="2148840"/>
            <a:ext cx="201168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8" name="コネクタ: カギ線 87">
            <a:extLst>
              <a:ext uri="{FF2B5EF4-FFF2-40B4-BE49-F238E27FC236}">
                <a16:creationId xmlns:a16="http://schemas.microsoft.com/office/drawing/2014/main" id="{04176F74-0C31-8E81-D4F9-28D76DB21255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 rot="16200000" flipH="1">
            <a:off x="4288536" y="3849624"/>
            <a:ext cx="201168" cy="20116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1" name="コネクタ: カギ線 90">
            <a:extLst>
              <a:ext uri="{FF2B5EF4-FFF2-40B4-BE49-F238E27FC236}">
                <a16:creationId xmlns:a16="http://schemas.microsoft.com/office/drawing/2014/main" id="{DF7CA432-07D8-C5DF-57C1-B5EE2A659F04}"/>
              </a:ext>
            </a:extLst>
          </p:cNvPr>
          <p:cNvCxnSpPr>
            <a:cxnSpLocks/>
            <a:stCxn id="53" idx="2"/>
            <a:endCxn id="57" idx="0"/>
          </p:cNvCxnSpPr>
          <p:nvPr/>
        </p:nvCxnSpPr>
        <p:spPr>
          <a:xfrm rot="5400000">
            <a:off x="3282696" y="3538728"/>
            <a:ext cx="201168" cy="40233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148209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共通例外・フォールバック方針</a:t>
            </a:r>
            <a:endParaRPr lang="en-US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1554480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AccessDeniedException -&gt; 403 ACCESS_DENIED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2212848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213969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EntityNotFoundException -&gt; 404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871216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279806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ExternalApiInvocationException -&gt; 502 EXTERNAL_API_ERROR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3529584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34564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GeminiPartialProcessingException -&gt; 502 GEMINI_PARTIAL_PROCESSING_ERROR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05840" y="4187952"/>
            <a:ext cx="100584" cy="10058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翻訳は FastAPI 主経路 + DIRECT_GEMINI fallback で実装。</a:t>
            </a:r>
            <a:endParaRPr lang="en-US" sz="1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654710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Editable flowchart - shapes and connectors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607</Words>
  <Application>Microsoft Office PowerPoint</Application>
  <PresentationFormat>ワイド画面</PresentationFormat>
  <Paragraphs>150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TranslaCat 基本設計 フロー図</dc:title>
  <dc:subject>TranslaCat 基本設計 フロー図</dc:subject>
  <dc:creator>OpenAI</dc:creator>
  <cp:lastModifiedBy>Jongseon Yim</cp:lastModifiedBy>
  <cp:revision>24</cp:revision>
  <dcterms:created xsi:type="dcterms:W3CDTF">2026-03-13T01:50:14Z</dcterms:created>
  <dcterms:modified xsi:type="dcterms:W3CDTF">2026-03-16T02:59:53Z</dcterms:modified>
</cp:coreProperties>
</file>
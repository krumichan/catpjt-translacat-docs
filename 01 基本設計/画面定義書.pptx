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93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4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E6324BB-7D50-6A28-B6AC-E772069F4E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62714"/>
          </a:xfrm>
          <a:prstGeom prst="rect">
            <a:avLst/>
          </a:prstGeom>
          <a:noFill/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68680"/>
            <a:ext cx="5394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2688" y="1097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画面定義書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960120"/>
            <a:ext cx="4892040" cy="4389120"/>
          </a:xfrm>
          <a:prstGeom prst="roundRect">
            <a:avLst>
              <a:gd name="adj" fmla="val 833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93408" y="1051560"/>
            <a:ext cx="467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収録内容</a:t>
            </a:r>
            <a:endParaRPr lang="en-US" sz="14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93408" y="1298448"/>
            <a:ext cx="4672584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1) 画面一覧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2)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共通ヘッダー定義</a:t>
            </a:r>
            <a:endParaRPr lang="en-US" sz="101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3) </a:t>
            </a:r>
            <a:r>
              <a:rPr lang="en-US" altLang="ja-JP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共通ヘッダー定義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4) ログイン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5) サービストップ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6) 小説トップ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7)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ランキング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8)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9) 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詳細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10) 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話ビューア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11) 音声翻訳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12) 共通状態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7716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画面一覧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主要画面の対応表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972800" cy="5394960"/>
          </a:xfrm>
          <a:prstGeom prst="roundRect">
            <a:avLst>
              <a:gd name="adj" fmla="val 6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10753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画面一覧</a:t>
            </a:r>
            <a:endParaRPr lang="en-US" sz="14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435608"/>
            <a:ext cx="10753344" cy="4983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SCR-01 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ログイン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　　　　　　　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 login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SCR-02 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サービス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選択</a:t>
            </a:r>
            <a:r>
              <a:rPr lang="ko-KR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  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　　　　 /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SCR-03  小説トップ　　　　　　　　 / novel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SCR-04  ランキング一覧　　　　　　 / novel/[platform]/genres/[identifier]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SCR-05  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　　　　　　　 / novel/[platform]/search/novels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SCR-06  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諸説</a:t>
            </a:r>
            <a:r>
              <a:rPr lang="en-US" sz="101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詳細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　　　　　　　 / novel/[platform]/novels/[identifier]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SCR-07  </a:t>
            </a:r>
            <a:r>
              <a:rPr lang="ja-JP" alt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話ビューア      </a:t>
            </a: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　　　　 / novel/[platform]/novels/[identifier]/episode/[episodeId]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SCR-08  音声翻訳　　　　　　　　　 / voice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※ 小説系は /novel 配下、音声翻訳は /voice に独立。</a:t>
            </a:r>
            <a:endParaRPr lang="en-US" sz="101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7716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共通ヘッダー定義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main layout / </a:t>
            </a:r>
            <a:r>
              <a:rPr lang="en-US" sz="105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共通上部領域の定義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669280" cy="5394960"/>
          </a:xfrm>
          <a:prstGeom prst="roundRect">
            <a:avLst>
              <a:gd name="adj" fmla="val 6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566928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1033272"/>
            <a:ext cx="5449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4983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7260" y="120700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ヘッダーバー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1536192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6696" y="157276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ロゴ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01215" y="1536192"/>
            <a:ext cx="1143000" cy="292608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37791" y="1572768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サービス名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37610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55136" y="1572768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テーマ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0120" y="2148840"/>
            <a:ext cx="4754880" cy="3566160"/>
          </a:xfrm>
          <a:prstGeom prst="roundRect">
            <a:avLst>
              <a:gd name="adj" fmla="val 769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96696" y="2185416"/>
            <a:ext cx="468172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各画面の本文領域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（小説トップ / ランキング / 詳細 / 音声翻訳 等）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960120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960120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996696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想定役割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1261872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アプリ共通のブランド表示、主要サービスへの移動、現在利用中の領域把握を担う上部バーとして整理する。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2057400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2057400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2093976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2359152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・ロゴ / サービス名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テーマ変更</a:t>
            </a:r>
            <a:r>
              <a:rPr lang="ko-KR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ko-KR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言語変更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メニュー：</a:t>
            </a:r>
            <a:r>
              <a:rPr lang="en-US" sz="98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将来的な設定</a:t>
            </a: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/ 履歴 / ユーザー情報導線を追加可能な余白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3310128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33101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33467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3611880"/>
            <a:ext cx="5230368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・ロゴクリックでトップへ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・小説/音声タブで各サービス画面へ移動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4370832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4370832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4407408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4672584"/>
            <a:ext cx="5230368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認証画面は別レイアウトの可能性が高く、共通ヘッダー対象外として扱う。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226F0CCC-749F-717B-12B1-40618AF52276}"/>
              </a:ext>
            </a:extLst>
          </p:cNvPr>
          <p:cNvSpPr/>
          <p:nvPr/>
        </p:nvSpPr>
        <p:spPr>
          <a:xfrm>
            <a:off x="4448034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AAA1490-4AFA-B540-F2DE-AC0C0DF99043}"/>
              </a:ext>
            </a:extLst>
          </p:cNvPr>
          <p:cNvSpPr/>
          <p:nvPr/>
        </p:nvSpPr>
        <p:spPr>
          <a:xfrm>
            <a:off x="4465560" y="1572768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言語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3FFC0A8-86A5-4C75-EB9A-7E5BE287EF7C}"/>
              </a:ext>
            </a:extLst>
          </p:cNvPr>
          <p:cNvSpPr/>
          <p:nvPr/>
        </p:nvSpPr>
        <p:spPr>
          <a:xfrm>
            <a:off x="5158459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D5608F9B-69CB-24F6-CC2E-1FBCC3D5467E}"/>
              </a:ext>
            </a:extLst>
          </p:cNvPr>
          <p:cNvSpPr/>
          <p:nvPr/>
        </p:nvSpPr>
        <p:spPr>
          <a:xfrm>
            <a:off x="5175985" y="1572767"/>
            <a:ext cx="548640" cy="246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メニュー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215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7716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共通ヘッダー定義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main layout / </a:t>
            </a:r>
            <a:r>
              <a:rPr lang="en-US" sz="105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共通上部領域の定義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669280" cy="5394960"/>
          </a:xfrm>
          <a:prstGeom prst="roundRect">
            <a:avLst>
              <a:gd name="adj" fmla="val 6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566928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1033272"/>
            <a:ext cx="5449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4983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7260" y="120700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ヘッダーバー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1536192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6696" y="157276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ロゴ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01215" y="1536192"/>
            <a:ext cx="1143000" cy="292608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37791" y="1572768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サービス名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37610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55136" y="1572768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テーマ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960120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960120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996696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画面概要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1261872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全画面共通のヘッダー。</a:t>
            </a:r>
          </a:p>
          <a:p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ブランド表示、設定変更、主要画面への遷移を提供する。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2057400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2057400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2093976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2359152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  <a:t>・ロゴ </a:t>
            </a:r>
            <a:r>
              <a:rPr lang="en-US" altLang="ja-JP" sz="980" dirty="0"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  <a:t>サービス名</a:t>
            </a:r>
            <a:b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  <a:t>・テーマ切替</a:t>
            </a:r>
            <a:b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  <a:t>・言語切替</a:t>
            </a:r>
            <a:b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980" dirty="0">
                <a:latin typeface="Meiryo" panose="020B0604030504040204" pitchFamily="34" charset="-128"/>
                <a:ea typeface="Meiryo" panose="020B0604030504040204" pitchFamily="34" charset="-128"/>
              </a:rPr>
              <a:t>・メニュー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3310127"/>
            <a:ext cx="5394960" cy="10931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33101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33467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主要操作</a:t>
            </a:r>
            <a:endParaRPr lang="en-US" altLang="ja-JP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3719081"/>
            <a:ext cx="5230368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・ロゴ：トップへ遷移</a:t>
            </a:r>
            <a:b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・テーマ：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Light / Dark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切替</a:t>
            </a:r>
            <a:b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・言語：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JP / KR / JPKR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切替</a:t>
            </a:r>
            <a:b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・メニュー：ホーム 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小説 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音声 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履歴 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/ </a:t>
            </a:r>
            <a:r>
              <a:rPr lang="ja-JP" altLang="en-US" sz="1000" dirty="0">
                <a:latin typeface="Meiryo" panose="020B0604030504040204" pitchFamily="34" charset="-128"/>
                <a:ea typeface="Meiryo" panose="020B0604030504040204" pitchFamily="34" charset="-128"/>
              </a:rPr>
              <a:t>ログアウト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226F0CCC-749F-717B-12B1-40618AF52276}"/>
              </a:ext>
            </a:extLst>
          </p:cNvPr>
          <p:cNvSpPr/>
          <p:nvPr/>
        </p:nvSpPr>
        <p:spPr>
          <a:xfrm>
            <a:off x="4448034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AAA1490-4AFA-B540-F2DE-AC0C0DF99043}"/>
              </a:ext>
            </a:extLst>
          </p:cNvPr>
          <p:cNvSpPr/>
          <p:nvPr/>
        </p:nvSpPr>
        <p:spPr>
          <a:xfrm>
            <a:off x="4465560" y="1572768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言語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3FFC0A8-86A5-4C75-EB9A-7E5BE287EF7C}"/>
              </a:ext>
            </a:extLst>
          </p:cNvPr>
          <p:cNvSpPr/>
          <p:nvPr/>
        </p:nvSpPr>
        <p:spPr>
          <a:xfrm>
            <a:off x="5158459" y="1526667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D5608F9B-69CB-24F6-CC2E-1FBCC3D5467E}"/>
              </a:ext>
            </a:extLst>
          </p:cNvPr>
          <p:cNvSpPr/>
          <p:nvPr/>
        </p:nvSpPr>
        <p:spPr>
          <a:xfrm>
            <a:off x="5175985" y="1572767"/>
            <a:ext cx="548640" cy="246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メニュー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5CA1E4F8-8BDA-E772-A0DF-BB6827DEA0FD}"/>
              </a:ext>
            </a:extLst>
          </p:cNvPr>
          <p:cNvSpPr/>
          <p:nvPr/>
        </p:nvSpPr>
        <p:spPr>
          <a:xfrm>
            <a:off x="1406271" y="302514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C26C64C-F09A-AF1D-97A5-9637AA7C1E71}"/>
              </a:ext>
            </a:extLst>
          </p:cNvPr>
          <p:cNvSpPr/>
          <p:nvPr/>
        </p:nvSpPr>
        <p:spPr>
          <a:xfrm>
            <a:off x="1423797" y="3071241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テーマ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05D901C3-5670-EBD1-A5FE-2179CAEC430A}"/>
              </a:ext>
            </a:extLst>
          </p:cNvPr>
          <p:cNvSpPr/>
          <p:nvPr/>
        </p:nvSpPr>
        <p:spPr>
          <a:xfrm>
            <a:off x="2278620" y="2722626"/>
            <a:ext cx="548640" cy="292608"/>
          </a:xfrm>
          <a:prstGeom prst="roundRect">
            <a:avLst>
              <a:gd name="adj" fmla="val 9375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07A5A3A-345F-705D-B897-A50E7306A3B8}"/>
              </a:ext>
            </a:extLst>
          </p:cNvPr>
          <p:cNvSpPr/>
          <p:nvPr/>
        </p:nvSpPr>
        <p:spPr>
          <a:xfrm>
            <a:off x="2296146" y="2768727"/>
            <a:ext cx="502439" cy="2194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1020" dirty="0">
                <a:latin typeface="Meiryo" panose="020B0604030504040204" pitchFamily="34" charset="-128"/>
                <a:ea typeface="Meiryo" panose="020B0604030504040204" pitchFamily="34" charset="-128"/>
              </a:rPr>
              <a:t>Light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F9B28A27-FA97-7E03-B212-02A169A33AB3}"/>
              </a:ext>
            </a:extLst>
          </p:cNvPr>
          <p:cNvSpPr/>
          <p:nvPr/>
        </p:nvSpPr>
        <p:spPr>
          <a:xfrm>
            <a:off x="2278620" y="3318510"/>
            <a:ext cx="548640" cy="292608"/>
          </a:xfrm>
          <a:prstGeom prst="roundRect">
            <a:avLst>
              <a:gd name="adj" fmla="val 9375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F64CBA87-0FF6-D039-03C5-CA8CD06F73D6}"/>
              </a:ext>
            </a:extLst>
          </p:cNvPr>
          <p:cNvSpPr/>
          <p:nvPr/>
        </p:nvSpPr>
        <p:spPr>
          <a:xfrm>
            <a:off x="2296146" y="3364611"/>
            <a:ext cx="502439" cy="219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1020" dirty="0">
                <a:latin typeface="Meiryo" panose="020B0604030504040204" pitchFamily="34" charset="-128"/>
                <a:ea typeface="Meiryo" panose="020B0604030504040204" pitchFamily="34" charset="-128"/>
              </a:rPr>
              <a:t>Dark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3B27E7DC-5E1B-9836-5A4D-F0CEC1B22D40}"/>
              </a:ext>
            </a:extLst>
          </p:cNvPr>
          <p:cNvCxnSpPr>
            <a:stCxn id="42" idx="3"/>
            <a:endCxn id="44" idx="1"/>
          </p:cNvCxnSpPr>
          <p:nvPr/>
        </p:nvCxnSpPr>
        <p:spPr>
          <a:xfrm flipV="1">
            <a:off x="1954911" y="2868930"/>
            <a:ext cx="323709" cy="3025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E17E3CE1-00F1-6013-67F4-EC6393DB79A8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1954911" y="3171444"/>
            <a:ext cx="323709" cy="29337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CE7D844-99D2-A42F-259F-039D0A4F7B3F}"/>
              </a:ext>
            </a:extLst>
          </p:cNvPr>
          <p:cNvSpPr txBox="1"/>
          <p:nvPr/>
        </p:nvSpPr>
        <p:spPr>
          <a:xfrm>
            <a:off x="1766556" y="2775573"/>
            <a:ext cx="976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転換</a:t>
            </a:r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7A84B953-363B-CF76-D3AB-908E657E6E61}"/>
              </a:ext>
            </a:extLst>
          </p:cNvPr>
          <p:cNvSpPr/>
          <p:nvPr/>
        </p:nvSpPr>
        <p:spPr>
          <a:xfrm>
            <a:off x="1406271" y="4530471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00D5404F-45A9-29A1-5AC8-B4AEC549179F}"/>
              </a:ext>
            </a:extLst>
          </p:cNvPr>
          <p:cNvSpPr/>
          <p:nvPr/>
        </p:nvSpPr>
        <p:spPr>
          <a:xfrm>
            <a:off x="1423797" y="4576572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言語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D1135585-150E-3E15-5945-BCA755753CC7}"/>
              </a:ext>
            </a:extLst>
          </p:cNvPr>
          <p:cNvSpPr/>
          <p:nvPr/>
        </p:nvSpPr>
        <p:spPr>
          <a:xfrm>
            <a:off x="2278620" y="4063747"/>
            <a:ext cx="548640" cy="292608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788A542-A7CD-A224-2101-A527A15748B5}"/>
              </a:ext>
            </a:extLst>
          </p:cNvPr>
          <p:cNvSpPr/>
          <p:nvPr/>
        </p:nvSpPr>
        <p:spPr>
          <a:xfrm>
            <a:off x="2296146" y="4109848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JP</a:t>
            </a:r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F3F158EB-7810-C4F4-F71E-D7E90E0C1646}"/>
              </a:ext>
            </a:extLst>
          </p:cNvPr>
          <p:cNvSpPr/>
          <p:nvPr/>
        </p:nvSpPr>
        <p:spPr>
          <a:xfrm>
            <a:off x="2278620" y="4535425"/>
            <a:ext cx="548640" cy="292608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CA4E9611-58EA-EE15-504E-75412C73FFD3}"/>
              </a:ext>
            </a:extLst>
          </p:cNvPr>
          <p:cNvSpPr/>
          <p:nvPr/>
        </p:nvSpPr>
        <p:spPr>
          <a:xfrm>
            <a:off x="2296146" y="4581526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KR</a:t>
            </a:r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FB4997A9-24E5-9C7F-2C70-1E2CCE04F610}"/>
              </a:ext>
            </a:extLst>
          </p:cNvPr>
          <p:cNvSpPr/>
          <p:nvPr/>
        </p:nvSpPr>
        <p:spPr>
          <a:xfrm>
            <a:off x="2278620" y="5007103"/>
            <a:ext cx="548640" cy="292608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795FAF9-4AEC-6961-4ECB-71F672463A58}"/>
              </a:ext>
            </a:extLst>
          </p:cNvPr>
          <p:cNvSpPr/>
          <p:nvPr/>
        </p:nvSpPr>
        <p:spPr>
          <a:xfrm>
            <a:off x="2296146" y="5053204"/>
            <a:ext cx="502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JPKR</a:t>
            </a: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FE3D0419-10A9-4E55-C733-458C7C0925CD}"/>
              </a:ext>
            </a:extLst>
          </p:cNvPr>
          <p:cNvSpPr/>
          <p:nvPr/>
        </p:nvSpPr>
        <p:spPr>
          <a:xfrm>
            <a:off x="1162049" y="2244852"/>
            <a:ext cx="4640199" cy="3622548"/>
          </a:xfrm>
          <a:prstGeom prst="roundRect">
            <a:avLst>
              <a:gd name="adj" fmla="val 64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938A3413-771E-5C17-3598-8F68644E6624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1954911" y="4210051"/>
            <a:ext cx="323709" cy="46672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0E179A0-515E-C4ED-0A84-F314027A928E}"/>
              </a:ext>
            </a:extLst>
          </p:cNvPr>
          <p:cNvCxnSpPr>
            <a:cxnSpLocks/>
            <a:stCxn id="57" idx="3"/>
            <a:endCxn id="61" idx="1"/>
          </p:cNvCxnSpPr>
          <p:nvPr/>
        </p:nvCxnSpPr>
        <p:spPr>
          <a:xfrm>
            <a:off x="1954911" y="4676775"/>
            <a:ext cx="323709" cy="495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7B6B9FAC-11D7-4AA0-5340-3BAEAD811F97}"/>
              </a:ext>
            </a:extLst>
          </p:cNvPr>
          <p:cNvCxnSpPr>
            <a:cxnSpLocks/>
            <a:stCxn id="57" idx="3"/>
            <a:endCxn id="63" idx="1"/>
          </p:cNvCxnSpPr>
          <p:nvPr/>
        </p:nvCxnSpPr>
        <p:spPr>
          <a:xfrm>
            <a:off x="1954911" y="4676775"/>
            <a:ext cx="323709" cy="4766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C951B4A-B90E-54AA-2DAB-84AC7C2AAD38}"/>
              </a:ext>
            </a:extLst>
          </p:cNvPr>
          <p:cNvSpPr txBox="1"/>
          <p:nvPr/>
        </p:nvSpPr>
        <p:spPr>
          <a:xfrm>
            <a:off x="1741691" y="4224331"/>
            <a:ext cx="976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転換</a:t>
            </a:r>
          </a:p>
        </p:txBody>
      </p:sp>
      <p:sp>
        <p:nvSpPr>
          <p:cNvPr id="75" name="Shape 13">
            <a:extLst>
              <a:ext uri="{FF2B5EF4-FFF2-40B4-BE49-F238E27FC236}">
                <a16:creationId xmlns:a16="http://schemas.microsoft.com/office/drawing/2014/main" id="{3D831D22-3BB9-38A1-9A70-AD82D7176B3A}"/>
              </a:ext>
            </a:extLst>
          </p:cNvPr>
          <p:cNvSpPr/>
          <p:nvPr/>
        </p:nvSpPr>
        <p:spPr>
          <a:xfrm>
            <a:off x="4448034" y="2454402"/>
            <a:ext cx="548640" cy="29260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FBA44D49-9407-2C49-4EC3-5DEF807F4516}"/>
              </a:ext>
            </a:extLst>
          </p:cNvPr>
          <p:cNvSpPr/>
          <p:nvPr/>
        </p:nvSpPr>
        <p:spPr>
          <a:xfrm>
            <a:off x="4465560" y="2500502"/>
            <a:ext cx="548640" cy="246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メニュー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F7301FB6-DF75-9548-E08C-95ACC0D45E37}"/>
              </a:ext>
            </a:extLst>
          </p:cNvPr>
          <p:cNvSpPr/>
          <p:nvPr/>
        </p:nvSpPr>
        <p:spPr>
          <a:xfrm>
            <a:off x="3932801" y="3046094"/>
            <a:ext cx="1567956" cy="2604898"/>
          </a:xfrm>
          <a:prstGeom prst="roundRect">
            <a:avLst>
              <a:gd name="adj" fmla="val 937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8" name="Shape 13">
            <a:extLst>
              <a:ext uri="{FF2B5EF4-FFF2-40B4-BE49-F238E27FC236}">
                <a16:creationId xmlns:a16="http://schemas.microsoft.com/office/drawing/2014/main" id="{E2BB4046-C0AA-FF2F-FF7F-5A29B5138B2D}"/>
              </a:ext>
            </a:extLst>
          </p:cNvPr>
          <p:cNvSpPr/>
          <p:nvPr/>
        </p:nvSpPr>
        <p:spPr>
          <a:xfrm>
            <a:off x="4011930" y="3108196"/>
            <a:ext cx="1386202" cy="830075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87CBA091-5EC2-D6E9-A2B3-62FB94D5F816}"/>
              </a:ext>
            </a:extLst>
          </p:cNvPr>
          <p:cNvSpPr/>
          <p:nvPr/>
        </p:nvSpPr>
        <p:spPr>
          <a:xfrm>
            <a:off x="4029455" y="3154297"/>
            <a:ext cx="1333119" cy="74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小説・エピソード</a:t>
            </a:r>
            <a:endParaRPr lang="en-US" altLang="ja-JP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履歴</a:t>
            </a:r>
            <a:endParaRPr lang="en-US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B2033A6D-6CEF-0143-E6FA-E26FBC1B49A9}"/>
              </a:ext>
            </a:extLst>
          </p:cNvPr>
          <p:cNvCxnSpPr/>
          <p:nvPr/>
        </p:nvCxnSpPr>
        <p:spPr>
          <a:xfrm>
            <a:off x="4011930" y="4029076"/>
            <a:ext cx="13862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Shape 13">
            <a:extLst>
              <a:ext uri="{FF2B5EF4-FFF2-40B4-BE49-F238E27FC236}">
                <a16:creationId xmlns:a16="http://schemas.microsoft.com/office/drawing/2014/main" id="{AC0C80C4-80E6-2A2C-BE73-59D275523215}"/>
              </a:ext>
            </a:extLst>
          </p:cNvPr>
          <p:cNvSpPr/>
          <p:nvPr/>
        </p:nvSpPr>
        <p:spPr>
          <a:xfrm>
            <a:off x="4011930" y="4091051"/>
            <a:ext cx="1386202" cy="254673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87CF248A-4B52-DFEF-E14B-EF8602CBA761}"/>
              </a:ext>
            </a:extLst>
          </p:cNvPr>
          <p:cNvSpPr/>
          <p:nvPr/>
        </p:nvSpPr>
        <p:spPr>
          <a:xfrm>
            <a:off x="4029456" y="4127576"/>
            <a:ext cx="1333118" cy="20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ホーム</a:t>
            </a:r>
            <a:endParaRPr lang="en-US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4" name="Shape 13">
            <a:extLst>
              <a:ext uri="{FF2B5EF4-FFF2-40B4-BE49-F238E27FC236}">
                <a16:creationId xmlns:a16="http://schemas.microsoft.com/office/drawing/2014/main" id="{795B0622-B772-4200-A4EF-769A5CA96279}"/>
              </a:ext>
            </a:extLst>
          </p:cNvPr>
          <p:cNvSpPr/>
          <p:nvPr/>
        </p:nvSpPr>
        <p:spPr>
          <a:xfrm>
            <a:off x="4011930" y="4366794"/>
            <a:ext cx="1386202" cy="254673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Text 14">
            <a:extLst>
              <a:ext uri="{FF2B5EF4-FFF2-40B4-BE49-F238E27FC236}">
                <a16:creationId xmlns:a16="http://schemas.microsoft.com/office/drawing/2014/main" id="{65885FB4-8845-6C41-A707-2D66D593D044}"/>
              </a:ext>
            </a:extLst>
          </p:cNvPr>
          <p:cNvSpPr/>
          <p:nvPr/>
        </p:nvSpPr>
        <p:spPr>
          <a:xfrm>
            <a:off x="4029456" y="4403319"/>
            <a:ext cx="1333118" cy="20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</a:t>
            </a:r>
            <a:endParaRPr lang="en-US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2E143773-B2C3-5516-F4B5-BD3BA86E58AD}"/>
              </a:ext>
            </a:extLst>
          </p:cNvPr>
          <p:cNvSpPr/>
          <p:nvPr/>
        </p:nvSpPr>
        <p:spPr>
          <a:xfrm>
            <a:off x="4011930" y="4640899"/>
            <a:ext cx="1386202" cy="254673"/>
          </a:xfrm>
          <a:prstGeom prst="roundRect">
            <a:avLst>
              <a:gd name="adj" fmla="val 9375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C25F2775-43B1-3E72-C5E3-19570CEA6729}"/>
              </a:ext>
            </a:extLst>
          </p:cNvPr>
          <p:cNvSpPr/>
          <p:nvPr/>
        </p:nvSpPr>
        <p:spPr>
          <a:xfrm>
            <a:off x="4029456" y="4677424"/>
            <a:ext cx="1333118" cy="20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音声</a:t>
            </a:r>
            <a:endParaRPr lang="en-US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4DE15739-36A4-E6AB-D447-BD3F78BA130C}"/>
              </a:ext>
            </a:extLst>
          </p:cNvPr>
          <p:cNvCxnSpPr/>
          <p:nvPr/>
        </p:nvCxnSpPr>
        <p:spPr>
          <a:xfrm>
            <a:off x="4029455" y="5000626"/>
            <a:ext cx="13862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Shape 13">
            <a:extLst>
              <a:ext uri="{FF2B5EF4-FFF2-40B4-BE49-F238E27FC236}">
                <a16:creationId xmlns:a16="http://schemas.microsoft.com/office/drawing/2014/main" id="{024808C2-C7E7-859A-B2EE-F39C48B21966}"/>
              </a:ext>
            </a:extLst>
          </p:cNvPr>
          <p:cNvSpPr/>
          <p:nvPr/>
        </p:nvSpPr>
        <p:spPr>
          <a:xfrm>
            <a:off x="4047488" y="5263182"/>
            <a:ext cx="1386202" cy="254673"/>
          </a:xfrm>
          <a:prstGeom prst="roundRect">
            <a:avLst>
              <a:gd name="adj" fmla="val 9375"/>
            </a:avLst>
          </a:prstGeom>
          <a:solidFill>
            <a:srgbClr val="FF0000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4" name="Text 14">
            <a:extLst>
              <a:ext uri="{FF2B5EF4-FFF2-40B4-BE49-F238E27FC236}">
                <a16:creationId xmlns:a16="http://schemas.microsoft.com/office/drawing/2014/main" id="{E94D86B0-076C-C73A-6DB5-4EC976D53368}"/>
              </a:ext>
            </a:extLst>
          </p:cNvPr>
          <p:cNvSpPr/>
          <p:nvPr/>
        </p:nvSpPr>
        <p:spPr>
          <a:xfrm>
            <a:off x="4065014" y="5299707"/>
            <a:ext cx="1333118" cy="20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ログアウト</a:t>
            </a:r>
            <a:endParaRPr lang="en-US" sz="1020" dirty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18E4A807-FD05-B015-DD1D-4C22B6F4CE12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 flipH="1">
            <a:off x="4716779" y="2747010"/>
            <a:ext cx="5575" cy="2990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9056D514-864A-6BD6-2884-94B3B002F936}"/>
              </a:ext>
            </a:extLst>
          </p:cNvPr>
          <p:cNvSpPr/>
          <p:nvPr/>
        </p:nvSpPr>
        <p:spPr>
          <a:xfrm>
            <a:off x="3686175" y="1485900"/>
            <a:ext cx="2076450" cy="371475"/>
          </a:xfrm>
          <a:prstGeom prst="roundRect">
            <a:avLst>
              <a:gd name="adj" fmla="val 64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03" name="コネクタ: カギ線 102">
            <a:extLst>
              <a:ext uri="{FF2B5EF4-FFF2-40B4-BE49-F238E27FC236}">
                <a16:creationId xmlns:a16="http://schemas.microsoft.com/office/drawing/2014/main" id="{9C2C9D17-8DB3-C0FB-169B-3EFBDFC41B64}"/>
              </a:ext>
            </a:extLst>
          </p:cNvPr>
          <p:cNvCxnSpPr>
            <a:stCxn id="99" idx="2"/>
            <a:endCxn id="98" idx="0"/>
          </p:cNvCxnSpPr>
          <p:nvPr/>
        </p:nvCxnSpPr>
        <p:spPr>
          <a:xfrm rot="5400000">
            <a:off x="3909537" y="1429988"/>
            <a:ext cx="387477" cy="12422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SCR-01 ログイン画面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/login | SCR-01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84832" y="2149602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21408" y="218617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ロゴ / サービス名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627632" y="3479673"/>
            <a:ext cx="3383280" cy="658368"/>
          </a:xfrm>
          <a:prstGeom prst="roundRect">
            <a:avLst>
              <a:gd name="adj" fmla="val 41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64208" y="3516249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説明メッセージ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10512" y="4491228"/>
            <a:ext cx="3017520" cy="640080"/>
          </a:xfrm>
          <a:prstGeom prst="roundRect">
            <a:avLst>
              <a:gd name="adj" fmla="val 428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47088" y="452780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Google ログインボタン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76272" y="5537073"/>
            <a:ext cx="2286000" cy="365760"/>
          </a:xfrm>
          <a:prstGeom prst="roundRect">
            <a:avLst>
              <a:gd name="adj" fmla="val 7500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12848" y="5573649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補助案内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Google アカウントによる認証開始画面。未認証ユーザーの入口。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・ロゴ / サービス名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・説明メッセージ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・Google ログインボタン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・補助テキスト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・Google ボタン押下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・認証成功時 callback 実行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・失敗時エラー遷移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NextAuth / Google OAuth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成功でトップへ。認証失敗時はエラー画面。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SCR-02 サービストップ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 | SCR-02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76272" y="2029968"/>
            <a:ext cx="2194560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12848" y="206654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ページタイトル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61872" y="2761488"/>
            <a:ext cx="1920240" cy="1828800"/>
          </a:xfrm>
          <a:prstGeom prst="roundRect">
            <a:avLst>
              <a:gd name="adj" fmla="val 15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8448" y="279806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小説サービスカード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56432" y="2761488"/>
            <a:ext cx="1920240" cy="1828800"/>
          </a:xfrm>
          <a:prstGeom prst="roundRect">
            <a:avLst>
              <a:gd name="adj" fmla="val 1500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3008" y="279806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音声翻訳カード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ログイン後の入口。小説機能と音声翻訳機能へ分岐する。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・タイトル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・サービス選択カード（小説 / 音声）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・小説カード押下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・音声カード押下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主に画面遷移中心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小説トップまたは音声翻訳へ。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63C53CEB-EEAC-EBC3-4732-CA5E31755BC0}"/>
              </a:ext>
            </a:extLst>
          </p:cNvPr>
          <p:cNvSpPr/>
          <p:nvPr/>
        </p:nvSpPr>
        <p:spPr>
          <a:xfrm>
            <a:off x="1409700" y="3151886"/>
            <a:ext cx="766572" cy="3776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アイコン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44124F8-D9B2-FC89-538F-295B90986F32}"/>
              </a:ext>
            </a:extLst>
          </p:cNvPr>
          <p:cNvSpPr/>
          <p:nvPr/>
        </p:nvSpPr>
        <p:spPr>
          <a:xfrm>
            <a:off x="1409700" y="3607308"/>
            <a:ext cx="1638300" cy="4800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タイトル＆説明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7D9D137-698B-AF20-8AA7-B17410065685}"/>
              </a:ext>
            </a:extLst>
          </p:cNvPr>
          <p:cNvSpPr/>
          <p:nvPr/>
        </p:nvSpPr>
        <p:spPr>
          <a:xfrm>
            <a:off x="1409700" y="4179570"/>
            <a:ext cx="990600" cy="3276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遷移ボタン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68784DD8-0497-BC22-5F62-B1A45B2530D6}"/>
              </a:ext>
            </a:extLst>
          </p:cNvPr>
          <p:cNvSpPr/>
          <p:nvPr/>
        </p:nvSpPr>
        <p:spPr>
          <a:xfrm>
            <a:off x="3608832" y="3163824"/>
            <a:ext cx="766572" cy="3776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アイコン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2A4884AA-19ED-949F-F08D-B5319FC2FA27}"/>
              </a:ext>
            </a:extLst>
          </p:cNvPr>
          <p:cNvSpPr/>
          <p:nvPr/>
        </p:nvSpPr>
        <p:spPr>
          <a:xfrm>
            <a:off x="3608832" y="3619246"/>
            <a:ext cx="1638300" cy="4800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タイトル＆説明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0B792106-F6D5-7231-EBC9-F62D2125A695}"/>
              </a:ext>
            </a:extLst>
          </p:cNvPr>
          <p:cNvSpPr/>
          <p:nvPr/>
        </p:nvSpPr>
        <p:spPr>
          <a:xfrm>
            <a:off x="3608832" y="4191508"/>
            <a:ext cx="990600" cy="3276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遷移ボタン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SCR-03 小説トップ画面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/novel | SCR-03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87552" y="1984248"/>
            <a:ext cx="4572000" cy="320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4128" y="2020824"/>
            <a:ext cx="4498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タイトル / ガイド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33272" y="2487168"/>
            <a:ext cx="1417320" cy="77724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9848" y="2523744"/>
            <a:ext cx="1344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 1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42032" y="2487168"/>
            <a:ext cx="1417320" cy="77724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78608" y="2523744"/>
            <a:ext cx="1344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 2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50792" y="2487168"/>
            <a:ext cx="1417320" cy="77724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87368" y="2523744"/>
            <a:ext cx="1344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 3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33272" y="4290568"/>
            <a:ext cx="4572000" cy="1177544"/>
          </a:xfrm>
          <a:prstGeom prst="roundRect">
            <a:avLst>
              <a:gd name="adj" fmla="val 461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69848" y="4327144"/>
            <a:ext cx="4498848" cy="108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Genre 領域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小説機能のハブ。プラットフォーム選択、ジャンル取得、検索導線を提供する。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・プラットフォームカード群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・ジャンル表示領域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・検索入力欄と検索ボタン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・表示時 platform 一覧取得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・プラットフォーム選択で genres 取得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・検索実行で結果画面へ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platformService / genreService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ランキング一覧、検索結果、作品詳細の起点。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996696" y="3622040"/>
            <a:ext cx="3337560" cy="4572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1">
                  <a:lumMod val="20000"/>
                  <a:lumOff val="80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033272" y="36586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検索入力欄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4471416" y="3622040"/>
            <a:ext cx="1097280" cy="457200"/>
          </a:xfrm>
          <a:prstGeom prst="roundRect">
            <a:avLst>
              <a:gd name="adj" fmla="val 6000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4507992" y="36586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8E4AC95-6487-2793-71B8-8DAAD407099D}"/>
              </a:ext>
            </a:extLst>
          </p:cNvPr>
          <p:cNvCxnSpPr/>
          <p:nvPr/>
        </p:nvCxnSpPr>
        <p:spPr>
          <a:xfrm>
            <a:off x="996696" y="3497580"/>
            <a:ext cx="460857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hape 21">
            <a:extLst>
              <a:ext uri="{FF2B5EF4-FFF2-40B4-BE49-F238E27FC236}">
                <a16:creationId xmlns:a16="http://schemas.microsoft.com/office/drawing/2014/main" id="{CDD6F1F1-22BF-96A4-826F-B392E4D36CDC}"/>
              </a:ext>
            </a:extLst>
          </p:cNvPr>
          <p:cNvSpPr/>
          <p:nvPr/>
        </p:nvSpPr>
        <p:spPr>
          <a:xfrm>
            <a:off x="1972056" y="5701284"/>
            <a:ext cx="2743200" cy="420624"/>
          </a:xfrm>
          <a:prstGeom prst="roundRect">
            <a:avLst>
              <a:gd name="adj" fmla="val 6000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3F9EA7EE-A07C-279A-D05B-D76CF27E8B09}"/>
              </a:ext>
            </a:extLst>
          </p:cNvPr>
          <p:cNvSpPr/>
          <p:nvPr/>
        </p:nvSpPr>
        <p:spPr>
          <a:xfrm>
            <a:off x="2008632" y="5737860"/>
            <a:ext cx="2654808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80" dirty="0">
                <a:latin typeface="Meiryo" panose="020B0604030504040204" pitchFamily="34" charset="-128"/>
                <a:ea typeface="Meiryo" panose="020B0604030504040204" pitchFamily="34" charset="-128"/>
              </a:rPr>
              <a:t>プラットフォーム選択遷移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SCR-04 ランキング一覧画面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/novel/[platform]/genres/[identifier] | SCR-04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24712" y="2050923"/>
            <a:ext cx="4389120" cy="347472"/>
          </a:xfrm>
          <a:prstGeom prst="roundRect">
            <a:avLst>
              <a:gd name="adj" fmla="val 7895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09900" y="2087499"/>
            <a:ext cx="2467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期間タブ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24712" y="2807208"/>
            <a:ext cx="4389120" cy="685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1288" y="2843784"/>
            <a:ext cx="4315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ランキングカード 1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24712" y="3675888"/>
            <a:ext cx="4389120" cy="685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1288" y="3712464"/>
            <a:ext cx="4315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ランキングカード 2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24712" y="4544568"/>
            <a:ext cx="4389120" cy="685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1288" y="4581144"/>
            <a:ext cx="4315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ランキングカード 3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47672" y="5687568"/>
            <a:ext cx="2743200" cy="347472"/>
          </a:xfrm>
          <a:prstGeom prst="roundRect">
            <a:avLst>
              <a:gd name="adj" fmla="val 7895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84248" y="572414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ページャ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プラットフォームとジャンルに応じたランキング作品一覧を期間別に表示する。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・期間タブ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・ランキングカード一覧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・ページャ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・期間変更で一覧再取得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・作品カード押下で詳細へ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rankingService.getPeriods / getRankings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作品詳細へ遷移。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6152" y="2107692"/>
            <a:ext cx="17114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タイトル / 対象ジャンル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SCR-05 </a:t>
            </a:r>
            <a:r>
              <a:rPr lang="en-US" sz="2400" b="1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r>
              <a:rPr lang="ja-JP" alt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</a:t>
            </a:r>
            <a:r>
              <a:rPr lang="en-US" sz="2400" b="1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/novel/[platform]/search/novels | SCR-05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24712" y="2532888"/>
            <a:ext cx="4389120" cy="749808"/>
          </a:xfrm>
          <a:prstGeom prst="roundRect">
            <a:avLst>
              <a:gd name="adj" fmla="val 3659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結果カード 1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24712" y="3447288"/>
            <a:ext cx="4389120" cy="749808"/>
          </a:xfrm>
          <a:prstGeom prst="roundRect">
            <a:avLst>
              <a:gd name="adj" fmla="val 3659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1288" y="3483864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結果カード 2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24712" y="4361688"/>
            <a:ext cx="4389120" cy="749808"/>
          </a:xfrm>
          <a:prstGeom prst="roundRect">
            <a:avLst>
              <a:gd name="adj" fmla="val 3659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1288" y="4398264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結果カード 3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5367528"/>
            <a:ext cx="2651760" cy="347472"/>
          </a:xfrm>
          <a:prstGeom prst="roundRect">
            <a:avLst>
              <a:gd name="adj" fmla="val 7895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75688" y="5404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ページャ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検索キーワードに対応する作品一覧を表示する。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en-US" sz="98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r>
              <a:rPr lang="ja-JP" alt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バー</a:t>
            </a:r>
            <a:r>
              <a:rPr lang="en-US" sz="98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表示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・検索結果カード一覧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・ページャ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・query / page 変更で再検索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・作品カード押下で詳細へ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searchService.getSearchNovels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作品詳細へ遷移。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DE15889D-F724-DC8A-046F-A37DFA74CF5C}"/>
              </a:ext>
            </a:extLst>
          </p:cNvPr>
          <p:cNvSpPr/>
          <p:nvPr/>
        </p:nvSpPr>
        <p:spPr>
          <a:xfrm>
            <a:off x="1049274" y="1956816"/>
            <a:ext cx="3337560" cy="4572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solidFill>
                <a:schemeClr val="accent1">
                  <a:lumMod val="20000"/>
                  <a:lumOff val="80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F0C76C7D-8266-D6A3-E01D-3834B5F03B33}"/>
              </a:ext>
            </a:extLst>
          </p:cNvPr>
          <p:cNvSpPr/>
          <p:nvPr/>
        </p:nvSpPr>
        <p:spPr>
          <a:xfrm>
            <a:off x="1085850" y="1993392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検索入力欄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0260A6A3-CE3B-2325-57BF-828E459FC5F9}"/>
              </a:ext>
            </a:extLst>
          </p:cNvPr>
          <p:cNvSpPr/>
          <p:nvPr/>
        </p:nvSpPr>
        <p:spPr>
          <a:xfrm>
            <a:off x="4523994" y="1956816"/>
            <a:ext cx="1097280" cy="457200"/>
          </a:xfrm>
          <a:prstGeom prst="roundRect">
            <a:avLst>
              <a:gd name="adj" fmla="val 6000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CE343AE0-CF05-5969-02F1-AD0FF1B87A76}"/>
              </a:ext>
            </a:extLst>
          </p:cNvPr>
          <p:cNvSpPr/>
          <p:nvPr/>
        </p:nvSpPr>
        <p:spPr>
          <a:xfrm>
            <a:off x="4560570" y="199339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検索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SCR-06 </a:t>
            </a:r>
            <a:r>
              <a:rPr lang="ja-JP" alt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</a:t>
            </a:r>
            <a:r>
              <a:rPr lang="en-US" sz="2400" b="1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詳細画面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/novel/[platform]/novels/[identifier] | SCR-06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33272" y="2075688"/>
            <a:ext cx="4572000" cy="1371600"/>
          </a:xfrm>
          <a:prstGeom prst="roundRect">
            <a:avLst>
              <a:gd name="adj" fmla="val 3000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9848" y="2569464"/>
            <a:ext cx="4498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作者 / 状態 / あらすじ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33272" y="3630168"/>
            <a:ext cx="4572000" cy="320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69848" y="3666744"/>
            <a:ext cx="4498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エピソード一覧タイトル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24712" y="4087368"/>
            <a:ext cx="4389120" cy="50292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1288" y="4123944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エピソード行 1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24712" y="4727448"/>
            <a:ext cx="4389120" cy="50292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1288" y="4764024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エピソード行 2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" y="5367528"/>
            <a:ext cx="4389120" cy="50292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61288" y="5404104"/>
            <a:ext cx="4315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エピソード行 3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作品情報とエピソード一覧を表示し、各話閲覧の入口となる。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・作品タイトル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・作者 / あらすじ / 状態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・エピソード一覧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・表示時に詳細取得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・エピソード押下で話画面へ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・閲覧履歴保存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novelService.getNovelDetail / recent save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エピソード閲覧へ。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9848" y="221132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作品タイトル</a:t>
            </a:r>
            <a:endParaRPr lang="en-US" sz="11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SCR-07 </a:t>
            </a:r>
            <a:r>
              <a:rPr lang="ja-JP" alt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話ビューア</a:t>
            </a:r>
            <a:r>
              <a:rPr lang="en-US" sz="2400" b="1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/novel/[platform]/novels/[identifier]/episode/[episodeId] | SCR-07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33272" y="1984248"/>
            <a:ext cx="4572000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9848" y="202082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話タイトル</a:t>
            </a:r>
            <a:endParaRPr lang="en-US" sz="11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24712" y="2532888"/>
            <a:ext cx="4389120" cy="2651760"/>
          </a:xfrm>
          <a:prstGeom prst="roundRect">
            <a:avLst>
              <a:gd name="adj" fmla="val 103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43159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本文表示領域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24712" y="5413248"/>
            <a:ext cx="4389120" cy="713232"/>
          </a:xfrm>
          <a:prstGeom prst="roundRect">
            <a:avLst>
              <a:gd name="adj" fmla="val 3846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1288" y="544982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ReaderPager / 辞書登録 / 前後移動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本文閲覧の中核画面。原文/翻訳表示、辞書登録、前後移動などを担う。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・話タイトル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・本文表示領域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・ReaderPager（前後移動 / 字体サイズ / 辞書登録）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・表示時に本文取得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・辞書登録成功時に本文更新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・前/次移動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・履歴保存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episodeService / dictionaryService / recent save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前話 / 次話 / 一覧へ。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581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SCR-08 音声翻訳画面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/voice | SCR-08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safe rebuilt version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2356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5623560" cy="292608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987552"/>
            <a:ext cx="5404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6708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画面構成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1344168"/>
            <a:ext cx="4800600" cy="457200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共通ヘッダー</a:t>
            </a:r>
            <a:endParaRPr lang="en-US" sz="11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33272" y="1984248"/>
            <a:ext cx="4572000" cy="320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9848" y="2020824"/>
            <a:ext cx="4498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タイトル / ガイド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07592" y="2487168"/>
            <a:ext cx="4023360" cy="502920"/>
          </a:xfrm>
          <a:prstGeom prst="roundRect">
            <a:avLst>
              <a:gd name="adj" fmla="val 5455"/>
            </a:avLst>
          </a:prstGeom>
          <a:solidFill>
            <a:srgbClr val="F6F0E8"/>
          </a:solidFill>
          <a:ln w="12700">
            <a:solidFill>
              <a:srgbClr val="F6F0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4168" y="2523744"/>
            <a:ext cx="3950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状態表示 / モード表示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19072" y="3218688"/>
            <a:ext cx="3200400" cy="685800"/>
          </a:xfrm>
          <a:prstGeom prst="roundRect">
            <a:avLst>
              <a:gd name="adj" fmla="val 4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55648" y="3255264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開始 / 停止 ボタン群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16152" y="4224528"/>
            <a:ext cx="4206240" cy="1691640"/>
          </a:xfrm>
          <a:prstGeom prst="roundRect">
            <a:avLst>
              <a:gd name="adj" fmla="val 16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52728" y="4261104"/>
            <a:ext cx="41330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翻訳履歴リスト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932688"/>
            <a:ext cx="539496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55080" y="93268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96926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画面目的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37376" y="1234440"/>
            <a:ext cx="523036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音声入力を開始し、翻訳結果を逐次表示するリアルタイム画面。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5080" y="1892808"/>
            <a:ext cx="539496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55080" y="189280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232" y="192938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主要構成要素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37376" y="2194560"/>
            <a:ext cx="523036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・共通ヘッダー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・状態表示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・開始/停止コントロール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・翻訳履歴リスト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312724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28232" y="316382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主要イベント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7376" y="342900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・開始/停止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・認識テキスト確定で翻訳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・結果履歴へ追加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5080" y="4224528"/>
            <a:ext cx="539496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55080" y="422452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28232" y="426110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API / 状態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37376" y="4526280"/>
            <a:ext cx="523036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voiceService.translateAndSave / browser speech hooks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5230368"/>
            <a:ext cx="539496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55080" y="5230368"/>
            <a:ext cx="5394960" cy="237744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28232" y="5266944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遷移 / 備考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37376" y="5532120"/>
            <a:ext cx="523036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主に同一画面内更新。</a:t>
            </a:r>
            <a:endParaRPr lang="en-US" sz="9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共通状態 / 補足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66928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画面横断で見られる状態変化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75520" y="6528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67085"/>
                </a:solidFill>
              </a:rPr>
              <a:t>safe rebuilt version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1280160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</a:rPr>
              <a:t>Loading / Pending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41248" y="1527048"/>
            <a:ext cx="32552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・初回表示時の取得中状態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・ランキング、小説詳細、本文取得で顕著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・音声翻訳では待機/認識中状態が存在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4370832" y="11887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480560" y="1280160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</a:rPr>
              <a:t>Error / Retry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4480560" y="1527048"/>
            <a:ext cx="32552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・API失敗時のエラー表示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・画面によっては再試行導線あり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・一部画面では console.error 中心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8010144" y="11887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1280160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</a:rPr>
              <a:t>Mutation / Refresh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119872" y="1527048"/>
            <a:ext cx="325526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・辞書登録成功後の本文更新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・query / page / period による再取得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・セッション更新による認証状態変更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822960" y="3474720"/>
            <a:ext cx="1056132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32688" y="3566160"/>
            <a:ext cx="10341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</a:rPr>
              <a:t>注記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932688" y="3813048"/>
            <a:ext cx="1034186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本資料の図形は CSS レベルのデザイン再現ではなく、画面を構成する領域・入力・主要操作・イベントを把握するための定義図である。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共通ヘッダーはコード上の main layout / 共通上部導線を前提に整理した推定定義であり、今後の設計確定時に調整可能。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911</Words>
  <Application>Microsoft Office PowerPoint</Application>
  <PresentationFormat>ワイド画面</PresentationFormat>
  <Paragraphs>318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TranslaCat 画面定義書</dc:title>
  <dc:subject>TranslaCat 画面定義書</dc:subject>
  <dc:creator>OpenAI</dc:creator>
  <cp:lastModifiedBy>Jongseon Yim</cp:lastModifiedBy>
  <cp:revision>38</cp:revision>
  <dcterms:created xsi:type="dcterms:W3CDTF">2026-03-13T08:37:09Z</dcterms:created>
  <dcterms:modified xsi:type="dcterms:W3CDTF">2026-03-17T04:36:40Z</dcterms:modified>
</cp:coreProperties>
</file>
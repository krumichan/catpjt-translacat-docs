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84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58" d="100"/>
          <a:sy n="58" d="100"/>
        </p:scale>
        <p:origin x="3216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>
            <a:extLst>
              <a:ext uri="{FF2B5EF4-FFF2-40B4-BE49-F238E27FC236}">
                <a16:creationId xmlns:a16="http://schemas.microsoft.com/office/drawing/2014/main" id="{5FE068E6-F1B1-CC1C-C371-C66E815834C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74F0FCA0-40CC-E214-EB41-264142F96D2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1934F6-5917-40F1-BEF1-0E3E53BD3D7A}" type="datetimeFigureOut">
              <a:rPr kumimoji="1" lang="ja-JP" altLang="en-US" smtClean="0"/>
              <a:t>2026/3/13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B3203647-6552-47DD-DB97-F6E06154D01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414499C9-6722-C1AF-63B2-6F108267AF5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2C7748-81D9-44C5-9EE4-7DC224813FC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616563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455680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E4F71BCC-221E-E381-1589-085EB901307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40000"/>
          </a:blip>
          <a:stretch>
            <a:fillRect/>
          </a:stretch>
        </p:blipFill>
        <p:spPr>
          <a:xfrm>
            <a:off x="0" y="0"/>
            <a:ext cx="12192000" cy="6862714"/>
          </a:xfrm>
          <a:prstGeom prst="rect">
            <a:avLst/>
          </a:prstGeom>
          <a:noFill/>
          <a:effectLst>
            <a:glow>
              <a:schemeClr val="accent1"/>
            </a:glow>
            <a:reflection endPos="0" dist="50800" dir="5400000" sy="-100000" algn="bl" rotWithShape="0"/>
          </a:effec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804672"/>
            <a:ext cx="557784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651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3" name="Text 1"/>
          <p:cNvSpPr/>
          <p:nvPr/>
        </p:nvSpPr>
        <p:spPr>
          <a:xfrm>
            <a:off x="914400" y="105156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TranslaCat</a:t>
            </a:r>
            <a:endParaRPr lang="en-US" sz="28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企画書</a:t>
            </a:r>
            <a:endParaRPr lang="en-US" sz="28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4" name="Text 2"/>
          <p:cNvSpPr/>
          <p:nvPr/>
        </p:nvSpPr>
        <p:spPr>
          <a:xfrm>
            <a:off x="932688" y="1933629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dirty="0" err="1">
                <a:solidFill>
                  <a:srgbClr val="667085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多言語そのものを支える翻訳プラットフォーム構想</a:t>
            </a:r>
            <a:endParaRPr lang="en-US" sz="122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079645" y="2926407"/>
            <a:ext cx="1325880" cy="301752"/>
          </a:xfrm>
          <a:prstGeom prst="roundRect">
            <a:avLst>
              <a:gd name="adj" fmla="val 15152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16221" y="2972127"/>
            <a:ext cx="12527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" dirty="0">
                <a:solidFill>
                  <a:srgbClr val="1F2937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テキスト入力</a:t>
            </a:r>
            <a:endParaRPr lang="en-US" sz="96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7" name="Shape 5"/>
          <p:cNvSpPr/>
          <p:nvPr/>
        </p:nvSpPr>
        <p:spPr>
          <a:xfrm>
            <a:off x="2542685" y="2926407"/>
            <a:ext cx="1325880" cy="301752"/>
          </a:xfrm>
          <a:prstGeom prst="roundRect">
            <a:avLst>
              <a:gd name="adj" fmla="val 15152"/>
            </a:avLst>
          </a:prstGeom>
          <a:solidFill>
            <a:srgbClr val="EAF7EE"/>
          </a:solidFill>
          <a:ln w="12700">
            <a:solidFill>
              <a:srgbClr val="EAF7EE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8" name="Text 6"/>
          <p:cNvSpPr/>
          <p:nvPr/>
        </p:nvSpPr>
        <p:spPr>
          <a:xfrm>
            <a:off x="2579261" y="2972127"/>
            <a:ext cx="12527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" dirty="0">
                <a:solidFill>
                  <a:srgbClr val="1F2937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音声入力</a:t>
            </a:r>
            <a:endParaRPr lang="en-US" sz="96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005725" y="2926407"/>
            <a:ext cx="1554480" cy="301752"/>
          </a:xfrm>
          <a:prstGeom prst="roundRect">
            <a:avLst>
              <a:gd name="adj" fmla="val 15152"/>
            </a:avLst>
          </a:prstGeom>
          <a:solidFill>
            <a:srgbClr val="FCEFE6"/>
          </a:solidFill>
          <a:ln w="12700">
            <a:solidFill>
              <a:srgbClr val="FCEFE6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042301" y="2972127"/>
            <a:ext cx="1481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" dirty="0">
                <a:solidFill>
                  <a:srgbClr val="1F2937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システムサウンド</a:t>
            </a:r>
            <a:endParaRPr lang="en-US" sz="96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583680" y="826552"/>
            <a:ext cx="4937760" cy="5257800"/>
          </a:xfrm>
          <a:prstGeom prst="roundRect">
            <a:avLst>
              <a:gd name="adj" fmla="val 111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858000" y="107899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本企画の一言要約</a:t>
            </a:r>
            <a:endParaRPr lang="en-US" sz="16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858000" y="1508760"/>
            <a:ext cx="4206240" cy="34747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ユーザーの環境で発生する</a:t>
            </a:r>
            <a:endParaRPr lang="en-US" sz="13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「文字」と「音」を途切れなく理解可能にする。</a:t>
            </a:r>
            <a:endParaRPr lang="en-US" sz="13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pPr marL="0" indent="0">
              <a:buNone/>
            </a:pPr>
            <a:endParaRPr lang="en-US" sz="13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入力はテキスト・マイク音声・システムサウンド。</a:t>
            </a:r>
            <a:endParaRPr lang="en-US" sz="13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出力は翻訳テキスト・音声読み上げ。</a:t>
            </a:r>
            <a:endParaRPr lang="en-US" sz="13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pPr marL="0" indent="0">
              <a:buNone/>
            </a:pPr>
            <a:endParaRPr lang="en-US" sz="13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最終的には、言語が違っても相互理解を支援する</a:t>
            </a:r>
            <a:endParaRPr lang="en-US" sz="13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“翻訳そのものの基盤”になることを目指す。</a:t>
            </a:r>
            <a:endParaRPr lang="en-US" sz="13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749808" y="3749040"/>
            <a:ext cx="5394960" cy="1874520"/>
          </a:xfrm>
          <a:prstGeom prst="roundRect">
            <a:avLst>
              <a:gd name="adj" fmla="val 2927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932688" y="4069080"/>
            <a:ext cx="4892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1F2937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企画の出発点</a:t>
            </a:r>
            <a:endParaRPr lang="en-US" sz="1400" b="1" dirty="0">
              <a:solidFill>
                <a:srgbClr val="1F2937"/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pPr marL="0" indent="0">
              <a:buNone/>
            </a:pPr>
            <a:endParaRPr lang="en-US" sz="14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開発者自身が多言語コンテンツを利用する過程で感じた</a:t>
            </a:r>
            <a:endParaRPr lang="en-US" sz="14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「理解したいのに言語が壁になる」体験を、</a:t>
            </a:r>
            <a:endParaRPr lang="en-US" sz="14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プロダクトとして解決したいという課題意識。</a:t>
            </a:r>
            <a:endParaRPr lang="en-US" sz="14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77240" y="6355080"/>
            <a:ext cx="3108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67085"/>
                </a:solidFill>
              </a:rPr>
              <a:t>Safe PPTX version | simple shapes/text only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173A5E"/>
          </a:solidFill>
          <a:ln w="12700">
            <a:solidFill>
              <a:srgbClr val="173A5E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3" name="Text 1"/>
          <p:cNvSpPr/>
          <p:nvPr/>
        </p:nvSpPr>
        <p:spPr>
          <a:xfrm>
            <a:off x="420624" y="115932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1. プロジェクト背景と目的</a:t>
            </a:r>
            <a:endParaRPr lang="en-US" sz="25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4" name="Text 2"/>
          <p:cNvSpPr/>
          <p:nvPr/>
        </p:nvSpPr>
        <p:spPr>
          <a:xfrm>
            <a:off x="438912" y="576072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個人的な課題解決から、世界中の言語障壁解消へ拡張する構想</a:t>
            </a:r>
            <a:endParaRPr lang="en-US" sz="105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5" name="Text 3"/>
          <p:cNvSpPr/>
          <p:nvPr/>
        </p:nvSpPr>
        <p:spPr>
          <a:xfrm>
            <a:off x="9829800" y="6537960"/>
            <a:ext cx="1828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TranslaCat | 企画ドラフト</a:t>
            </a:r>
            <a:endParaRPr lang="en-US" sz="9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85800" y="1234440"/>
            <a:ext cx="3474720" cy="1828800"/>
          </a:xfrm>
          <a:prstGeom prst="roundRect">
            <a:avLst>
              <a:gd name="adj" fmla="val 3000"/>
            </a:avLst>
          </a:prstGeom>
          <a:solidFill>
            <a:srgbClr val="EAF2FB"/>
          </a:solidFill>
          <a:ln w="12700">
            <a:solidFill>
              <a:srgbClr val="D9E2EC"/>
            </a:solidFill>
            <a:prstDash val="solid"/>
          </a:ln>
          <a:effectLst>
            <a:outerShdw blurRad="1651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7" name="Text 5"/>
          <p:cNvSpPr/>
          <p:nvPr/>
        </p:nvSpPr>
        <p:spPr>
          <a:xfrm>
            <a:off x="832104" y="1353312"/>
            <a:ext cx="3182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出発点</a:t>
            </a:r>
            <a:endParaRPr lang="en-US" sz="16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8" name="Text 6"/>
          <p:cNvSpPr/>
          <p:nvPr/>
        </p:nvSpPr>
        <p:spPr>
          <a:xfrm>
            <a:off x="832104" y="1636776"/>
            <a:ext cx="3182112" cy="13167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海外の Web 小説・動画・ゲームなどを楽しみたい時、</a:t>
            </a:r>
            <a:endParaRPr lang="en-US" sz="11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理解したい対象はあるのに、言語の壁が体験そのものを分断していた。</a:t>
            </a:r>
            <a:endParaRPr lang="en-US" sz="11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pPr marL="0" indent="0">
              <a:buNone/>
            </a:pPr>
            <a:endParaRPr lang="en-US" sz="11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「読めない」「聞き取れない」「意味が追えない」を一つずつ解消したい、という実体験から始まった。</a:t>
            </a:r>
            <a:endParaRPr lang="en-US" sz="11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389120" y="1234440"/>
            <a:ext cx="3474720" cy="1828800"/>
          </a:xfrm>
          <a:prstGeom prst="roundRect">
            <a:avLst>
              <a:gd name="adj" fmla="val 3000"/>
            </a:avLst>
          </a:prstGeom>
          <a:solidFill>
            <a:srgbClr val="EAF7EE"/>
          </a:solidFill>
          <a:ln w="12700">
            <a:solidFill>
              <a:srgbClr val="D9E2EC"/>
            </a:solidFill>
            <a:prstDash val="solid"/>
          </a:ln>
          <a:effectLst>
            <a:outerShdw blurRad="1651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535424" y="1353312"/>
            <a:ext cx="3182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本質的な課題</a:t>
            </a:r>
            <a:endParaRPr lang="en-US" sz="16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535424" y="1636776"/>
            <a:ext cx="3182112" cy="13167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従来の翻訳ツールは入力形式や利用場面ごとに分断されやすい。</a:t>
            </a:r>
            <a:endParaRPr lang="en-US" sz="11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テキストはテキスト、音声は音声、システム音は別手段、というように体験が途切れる。</a:t>
            </a:r>
            <a:endParaRPr lang="en-US" sz="11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pPr marL="0" indent="0">
              <a:buNone/>
            </a:pPr>
            <a:endParaRPr lang="en-US" sz="11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ユーザーが本当に必要なのは「翻訳機能」ではなく「理解が継続する状態」である。</a:t>
            </a:r>
            <a:endParaRPr lang="en-US" sz="11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8092440" y="1234440"/>
            <a:ext cx="3429000" cy="1828800"/>
          </a:xfrm>
          <a:prstGeom prst="roundRect">
            <a:avLst>
              <a:gd name="adj" fmla="val 3000"/>
            </a:avLst>
          </a:prstGeom>
          <a:solidFill>
            <a:srgbClr val="FCEFE6"/>
          </a:solidFill>
          <a:ln w="12700">
            <a:solidFill>
              <a:srgbClr val="D9E2EC"/>
            </a:solidFill>
            <a:prstDash val="solid"/>
          </a:ln>
          <a:effectLst>
            <a:outerShdw blurRad="1651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238744" y="1353312"/>
            <a:ext cx="3136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最終目的</a:t>
            </a:r>
            <a:endParaRPr lang="en-US" sz="16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238744" y="1636776"/>
            <a:ext cx="3136392" cy="13167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言語の違いによって不利益や不便を感じる世界中の人々を支える、</a:t>
            </a:r>
            <a:endParaRPr lang="en-US" sz="11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総合的な多言語翻訳プラットフォームへ成長すること。</a:t>
            </a:r>
            <a:endParaRPr lang="en-US" sz="11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pPr marL="0" indent="0">
              <a:buNone/>
            </a:pPr>
            <a:endParaRPr lang="en-US" sz="11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対象は特定言語ではなく“あらゆる言語間の相互支援”である。</a:t>
            </a:r>
            <a:endParaRPr lang="en-US" sz="11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77240" y="3657600"/>
            <a:ext cx="10607040" cy="1737360"/>
          </a:xfrm>
          <a:prstGeom prst="roundRect">
            <a:avLst>
              <a:gd name="adj" fmla="val 3158"/>
            </a:avLst>
          </a:prstGeom>
          <a:solidFill>
            <a:srgbClr val="F6F0E8"/>
          </a:solidFill>
          <a:ln w="12700">
            <a:solidFill>
              <a:srgbClr val="D9E2EC"/>
            </a:solidFill>
            <a:prstDash val="solid"/>
          </a:ln>
          <a:effectLst>
            <a:outerShdw blurRad="1651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923544" y="3776472"/>
            <a:ext cx="10314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本企画が目指す価値</a:t>
            </a:r>
            <a:endParaRPr lang="en-US" sz="16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923544" y="4059936"/>
            <a:ext cx="10314432" cy="12252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単純な翻訳精度競争ではなく、ユーザーがいる環境で発生するテキスト・音声・システム音を、入力から出力まで自然につなぎ、</a:t>
            </a:r>
            <a:endParaRPr lang="en-US" sz="11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もっとも理解しやすい形式で返すことによって「多言語コンテンツへのアクセス権そのもの」を広げる。</a:t>
            </a:r>
            <a:endParaRPr lang="en-US" sz="11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173A5E"/>
          </a:solidFill>
          <a:ln w="12700">
            <a:solidFill>
              <a:srgbClr val="173A5E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3" name="Text 1"/>
          <p:cNvSpPr/>
          <p:nvPr/>
        </p:nvSpPr>
        <p:spPr>
          <a:xfrm>
            <a:off x="420624" y="115932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2. ターゲットユーザー</a:t>
            </a:r>
            <a:endParaRPr lang="en-US" sz="25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4" name="Text 2"/>
          <p:cNvSpPr/>
          <p:nvPr/>
        </p:nvSpPr>
        <p:spPr>
          <a:xfrm>
            <a:off x="438912" y="576072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利用シーン別にみた主要ユーザー像</a:t>
            </a:r>
            <a:endParaRPr lang="en-US" sz="105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5" name="Text 3"/>
          <p:cNvSpPr/>
          <p:nvPr/>
        </p:nvSpPr>
        <p:spPr>
          <a:xfrm>
            <a:off x="9829800" y="6537960"/>
            <a:ext cx="1828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TranslaCat | 企画ドラフト</a:t>
            </a:r>
            <a:endParaRPr lang="en-US" sz="9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6" name="Shape 4"/>
          <p:cNvSpPr/>
          <p:nvPr/>
        </p:nvSpPr>
        <p:spPr>
          <a:xfrm>
            <a:off x="731520" y="1280160"/>
            <a:ext cx="3259186" cy="2011680"/>
          </a:xfrm>
          <a:prstGeom prst="roundRect">
            <a:avLst>
              <a:gd name="adj" fmla="val 2727"/>
            </a:avLst>
          </a:prstGeom>
          <a:solidFill>
            <a:srgbClr val="EAF2FB"/>
          </a:solidFill>
          <a:ln w="12700">
            <a:solidFill>
              <a:srgbClr val="D9E2EC"/>
            </a:solidFill>
            <a:prstDash val="solid"/>
          </a:ln>
          <a:effectLst>
            <a:outerShdw blurRad="1651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7" name="Text 5"/>
          <p:cNvSpPr/>
          <p:nvPr/>
        </p:nvSpPr>
        <p:spPr>
          <a:xfrm>
            <a:off x="877823" y="1456180"/>
            <a:ext cx="29115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ターゲットA</a:t>
            </a:r>
            <a:endParaRPr lang="en-US" sz="16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外国語学習者</a:t>
            </a:r>
            <a:endParaRPr lang="en-US" sz="16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8" name="Text 6"/>
          <p:cNvSpPr/>
          <p:nvPr/>
        </p:nvSpPr>
        <p:spPr>
          <a:xfrm>
            <a:off x="877823" y="1580276"/>
            <a:ext cx="2911539" cy="1348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・語学学習はしているが、実際のコンテンツ理解にはまだ壁がある</a:t>
            </a:r>
            <a:endParaRPr lang="en-US" sz="11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・原文を追いつつ、必要に応じて母語の支援が欲しい</a:t>
            </a:r>
            <a:endParaRPr lang="en-US" sz="11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・漢字や発話の読み・意味をその場で補いたい</a:t>
            </a:r>
            <a:endParaRPr lang="en-US" sz="11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162154" y="1280160"/>
            <a:ext cx="3340826" cy="2011680"/>
          </a:xfrm>
          <a:prstGeom prst="roundRect">
            <a:avLst>
              <a:gd name="adj" fmla="val 2727"/>
            </a:avLst>
          </a:prstGeom>
          <a:solidFill>
            <a:srgbClr val="EAF7EE"/>
          </a:solidFill>
          <a:ln w="12700">
            <a:solidFill>
              <a:srgbClr val="D9E2EC"/>
            </a:solidFill>
            <a:prstDash val="solid"/>
          </a:ln>
          <a:effectLst>
            <a:outerShdw blurRad="1651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308457" y="1456180"/>
            <a:ext cx="29844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ターゲットB</a:t>
            </a:r>
            <a:endParaRPr lang="en-US" sz="16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海外コンテンツ利用者</a:t>
            </a:r>
            <a:endParaRPr lang="en-US" sz="16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308457" y="1682496"/>
            <a:ext cx="2984471" cy="1499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・海外 Web 小説、動画、ゲームを母語で快適に楽しみたい</a:t>
            </a:r>
            <a:endParaRPr lang="en-US" sz="11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・好きな作品や配信に言語が理由でアクセスできないのは嫌だ</a:t>
            </a:r>
            <a:endParaRPr lang="en-US" sz="11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・翻訳結果がすぐに見られ、続きも追いやすい体験を求める</a:t>
            </a:r>
            <a:endParaRPr lang="en-US" sz="11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674428" y="1280160"/>
            <a:ext cx="3755571" cy="2011680"/>
          </a:xfrm>
          <a:prstGeom prst="roundRect">
            <a:avLst>
              <a:gd name="adj" fmla="val 2727"/>
            </a:avLst>
          </a:prstGeom>
          <a:solidFill>
            <a:srgbClr val="FCEFE6"/>
          </a:solidFill>
          <a:ln w="12700">
            <a:solidFill>
              <a:srgbClr val="D9E2EC"/>
            </a:solidFill>
            <a:prstDash val="solid"/>
          </a:ln>
          <a:effectLst>
            <a:outerShdw blurRad="1651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768482" y="1456180"/>
            <a:ext cx="351521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ターゲットC</a:t>
            </a:r>
            <a:endParaRPr lang="en-US" sz="16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コミュニケーション支援ニーズを持つ人</a:t>
            </a:r>
            <a:endParaRPr lang="en-US" sz="16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768482" y="1649186"/>
            <a:ext cx="3515214" cy="10675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・会話、配信、会議、ゲーム通話などで相手の言語が壁になる</a:t>
            </a:r>
            <a:endParaRPr lang="en-US" sz="11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・その場で聞こえてくる音声やシステムサウンドを理解したい</a:t>
            </a:r>
            <a:endParaRPr lang="en-US" sz="11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・文字でも音声でも、自分に合った形で受け取りたい</a:t>
            </a:r>
            <a:endParaRPr lang="en-US" sz="11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77240" y="3749040"/>
            <a:ext cx="10561320" cy="1554480"/>
          </a:xfrm>
          <a:prstGeom prst="roundRect">
            <a:avLst>
              <a:gd name="adj" fmla="val 3529"/>
            </a:avLst>
          </a:prstGeom>
          <a:solidFill>
            <a:srgbClr val="F2ECFB"/>
          </a:solidFill>
          <a:ln w="12700">
            <a:solidFill>
              <a:srgbClr val="D9E2EC"/>
            </a:solidFill>
            <a:prstDash val="solid"/>
          </a:ln>
          <a:effectLst>
            <a:outerShdw blurRad="1651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923544" y="3867912"/>
            <a:ext cx="10268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ユーザー共通の期待</a:t>
            </a:r>
            <a:endParaRPr lang="en-US" sz="16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923544" y="4151376"/>
            <a:ext cx="10268712" cy="10424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「翻訳したい」よりも前に、「楽しみたい」「理解したい」「会話したい」という目的がある。</a:t>
            </a:r>
            <a:endParaRPr lang="en-US" sz="11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TranslaCat は翻訳を目的化せず、理解行為を途切れさせない道具であるべき。</a:t>
            </a:r>
            <a:endParaRPr lang="en-US" sz="11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173A5E"/>
          </a:solidFill>
          <a:ln w="12700">
            <a:solidFill>
              <a:srgbClr val="173A5E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3" name="Text 1"/>
          <p:cNvSpPr/>
          <p:nvPr/>
        </p:nvSpPr>
        <p:spPr>
          <a:xfrm>
            <a:off x="420624" y="115932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3. Core Value</a:t>
            </a:r>
            <a:endParaRPr lang="en-US" sz="25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4" name="Text 2"/>
          <p:cNvSpPr/>
          <p:nvPr/>
        </p:nvSpPr>
        <p:spPr>
          <a:xfrm>
            <a:off x="438912" y="576072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TranslaCat が提供する中核的な体験価値</a:t>
            </a:r>
            <a:endParaRPr lang="en-US" sz="105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5" name="Text 3"/>
          <p:cNvSpPr/>
          <p:nvPr/>
        </p:nvSpPr>
        <p:spPr>
          <a:xfrm>
            <a:off x="9829800" y="6537960"/>
            <a:ext cx="1828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TranslaCat | 企画ドラフト</a:t>
            </a:r>
            <a:endParaRPr lang="en-US" sz="9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6" name="Shape 4"/>
          <p:cNvSpPr/>
          <p:nvPr/>
        </p:nvSpPr>
        <p:spPr>
          <a:xfrm>
            <a:off x="731520" y="1234440"/>
            <a:ext cx="5394960" cy="438912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651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7" name="Text 5"/>
          <p:cNvSpPr/>
          <p:nvPr/>
        </p:nvSpPr>
        <p:spPr>
          <a:xfrm>
            <a:off x="877824" y="1353312"/>
            <a:ext cx="5102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提供価値の定義</a:t>
            </a:r>
            <a:endParaRPr lang="en-US" sz="16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8" name="Text 6"/>
          <p:cNvSpPr/>
          <p:nvPr/>
        </p:nvSpPr>
        <p:spPr>
          <a:xfrm>
            <a:off x="877824" y="1636776"/>
            <a:ext cx="5102352" cy="38770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TranslaCat の価値は、単純な「翻訳精度」ではない。</a:t>
            </a:r>
            <a:endParaRPr lang="en-US" sz="11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pPr marL="0" indent="0">
              <a:buNone/>
            </a:pPr>
            <a:endParaRPr lang="en-US" sz="11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ユーザーの環境で発生するあらゆる文字と音を受け取り、</a:t>
            </a:r>
            <a:endParaRPr lang="en-US" sz="11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その瞬間に、もっとも理解しやすい形式へ変換して返す。</a:t>
            </a:r>
            <a:endParaRPr lang="en-US" sz="11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pPr marL="0" indent="0">
              <a:buNone/>
            </a:pPr>
            <a:endParaRPr lang="en-US" sz="11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つまり、入力の形式に縛られず、出力の形式も固定しない。</a:t>
            </a:r>
            <a:endParaRPr lang="en-US" sz="11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テキストでも、音声でも、必要な側へ自然に変換する。</a:t>
            </a:r>
            <a:endParaRPr lang="en-US" sz="11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pPr marL="0" indent="0">
              <a:buNone/>
            </a:pPr>
            <a:endParaRPr lang="en-US" sz="11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この柔軟性が、コンテンツ理解・会話理解・学習補助・娯楽体験を一つの体験に統合する。</a:t>
            </a:r>
            <a:endParaRPr lang="en-US" sz="11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446520" y="1234440"/>
            <a:ext cx="4983480" cy="1234440"/>
          </a:xfrm>
          <a:prstGeom prst="roundRect">
            <a:avLst>
              <a:gd name="adj" fmla="val 4444"/>
            </a:avLst>
          </a:prstGeom>
          <a:solidFill>
            <a:srgbClr val="EAF2FB"/>
          </a:solidFill>
          <a:ln w="12700">
            <a:solidFill>
              <a:srgbClr val="D9E2EC"/>
            </a:solidFill>
            <a:prstDash val="solid"/>
          </a:ln>
          <a:effectLst>
            <a:outerShdw blurRad="1651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592824" y="1353312"/>
            <a:ext cx="4690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価値①</a:t>
            </a:r>
            <a:endParaRPr lang="en-US" sz="16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592824" y="1636776"/>
            <a:ext cx="4690872" cy="7223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入力モダリティに依存しない。</a:t>
            </a:r>
            <a:endParaRPr lang="en-US" sz="11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テキスト・マイク音声・システム音をまとめて扱う。</a:t>
            </a:r>
            <a:endParaRPr lang="en-US" sz="11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446520" y="2811780"/>
            <a:ext cx="4983480" cy="1234440"/>
          </a:xfrm>
          <a:prstGeom prst="roundRect">
            <a:avLst>
              <a:gd name="adj" fmla="val 4444"/>
            </a:avLst>
          </a:prstGeom>
          <a:solidFill>
            <a:srgbClr val="EAF7EE"/>
          </a:solidFill>
          <a:ln w="12700">
            <a:solidFill>
              <a:srgbClr val="D9E2EC"/>
            </a:solidFill>
            <a:prstDash val="solid"/>
          </a:ln>
          <a:effectLst>
            <a:outerShdw blurRad="1651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592824" y="2930652"/>
            <a:ext cx="4690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価値②</a:t>
            </a:r>
            <a:endParaRPr lang="en-US" sz="16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592824" y="3214116"/>
            <a:ext cx="4690872" cy="7223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出力モダリティを固定しない。</a:t>
            </a:r>
            <a:endParaRPr lang="en-US" sz="11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翻訳テキスト表示と音声読み上げの双方に展開できる。</a:t>
            </a:r>
            <a:endParaRPr lang="en-US" sz="11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446520" y="4389120"/>
            <a:ext cx="4983480" cy="1234440"/>
          </a:xfrm>
          <a:prstGeom prst="roundRect">
            <a:avLst>
              <a:gd name="adj" fmla="val 4444"/>
            </a:avLst>
          </a:prstGeom>
          <a:solidFill>
            <a:srgbClr val="FCEFE6"/>
          </a:solidFill>
          <a:ln w="12700">
            <a:solidFill>
              <a:srgbClr val="D9E2EC"/>
            </a:solidFill>
            <a:prstDash val="solid"/>
          </a:ln>
          <a:effectLst>
            <a:outerShdw blurRad="1651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592824" y="4507992"/>
            <a:ext cx="4690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価値③</a:t>
            </a:r>
            <a:endParaRPr lang="en-US" sz="16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592824" y="4791456"/>
            <a:ext cx="4690872" cy="7223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ユーザーは「どの翻訳機能を使うか」ではなく、</a:t>
            </a:r>
            <a:endParaRPr lang="en-US" sz="11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「どう理解したいか」で使い方を選べる。</a:t>
            </a:r>
            <a:endParaRPr lang="en-US" sz="11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173A5E"/>
          </a:solidFill>
          <a:ln w="12700">
            <a:solidFill>
              <a:srgbClr val="173A5E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3" name="Text 1"/>
          <p:cNvSpPr/>
          <p:nvPr/>
        </p:nvSpPr>
        <p:spPr>
          <a:xfrm>
            <a:off x="420624" y="115932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4. システム主要機能（入出力モデル）</a:t>
            </a:r>
            <a:endParaRPr lang="en-US" sz="25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4" name="Text 2"/>
          <p:cNvSpPr/>
          <p:nvPr/>
        </p:nvSpPr>
        <p:spPr>
          <a:xfrm>
            <a:off x="438912" y="576072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入力ソースと出力フォーマットを統合的に扱う</a:t>
            </a:r>
            <a:endParaRPr lang="en-US" sz="105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5" name="Text 3"/>
          <p:cNvSpPr/>
          <p:nvPr/>
        </p:nvSpPr>
        <p:spPr>
          <a:xfrm>
            <a:off x="9829800" y="6537960"/>
            <a:ext cx="1828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TranslaCat | 企画ドラフト</a:t>
            </a:r>
            <a:endParaRPr lang="en-US" sz="9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069118" y="2579912"/>
            <a:ext cx="1874520" cy="2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7" name="Shape 5"/>
          <p:cNvSpPr/>
          <p:nvPr/>
        </p:nvSpPr>
        <p:spPr>
          <a:xfrm flipV="1">
            <a:off x="7222517" y="2579913"/>
            <a:ext cx="1967203" cy="1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86384" y="1143001"/>
            <a:ext cx="2282734" cy="2988116"/>
          </a:xfrm>
          <a:prstGeom prst="roundRect">
            <a:avLst>
              <a:gd name="adj" fmla="val 2727"/>
            </a:avLst>
          </a:prstGeom>
          <a:solidFill>
            <a:srgbClr val="EAF2FB"/>
          </a:solidFill>
          <a:ln w="12700">
            <a:solidFill>
              <a:srgbClr val="D9E2EC"/>
            </a:solidFill>
            <a:prstDash val="solid"/>
          </a:ln>
          <a:effectLst>
            <a:outerShdw blurRad="1651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9" name="Text 7"/>
          <p:cNvSpPr/>
          <p:nvPr/>
        </p:nvSpPr>
        <p:spPr>
          <a:xfrm>
            <a:off x="932688" y="1261872"/>
            <a:ext cx="2022130" cy="298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Input</a:t>
            </a:r>
            <a:endParaRPr lang="en-US" sz="16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10" name="Text 8"/>
          <p:cNvSpPr/>
          <p:nvPr/>
        </p:nvSpPr>
        <p:spPr>
          <a:xfrm>
            <a:off x="932688" y="1591887"/>
            <a:ext cx="1974886" cy="2227505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テキスト</a:t>
            </a:r>
            <a:endParaRPr lang="en-US" sz="11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・Web 小説</a:t>
            </a:r>
            <a:endParaRPr lang="en-US" sz="11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・Web サイト</a:t>
            </a:r>
            <a:endParaRPr lang="en-US" sz="11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pPr marL="0" indent="0">
              <a:buNone/>
            </a:pPr>
            <a:endParaRPr lang="en-US" sz="11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音声</a:t>
            </a:r>
            <a:endParaRPr lang="en-US" sz="11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・ユーザー自身の声</a:t>
            </a:r>
            <a:endParaRPr lang="en-US" sz="11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・会話相手の声</a:t>
            </a:r>
            <a:endParaRPr lang="en-US" sz="11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pPr marL="0" indent="0">
              <a:buNone/>
            </a:pPr>
            <a:endParaRPr lang="en-US" sz="11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システムサウンド</a:t>
            </a:r>
            <a:endParaRPr lang="en-US" sz="11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・動画</a:t>
            </a:r>
            <a:endParaRPr lang="en-US" sz="11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・配信</a:t>
            </a:r>
            <a:endParaRPr lang="en-US" sz="11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・会議音声</a:t>
            </a:r>
            <a:endParaRPr lang="en-US" sz="11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969176" y="1143001"/>
            <a:ext cx="2253341" cy="298811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651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115481" y="1306710"/>
            <a:ext cx="1892806" cy="257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Platform Core</a:t>
            </a:r>
            <a:endParaRPr lang="en-US" sz="16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115481" y="1545337"/>
            <a:ext cx="1892806" cy="233190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収集</a:t>
            </a:r>
            <a:endParaRPr lang="en-US" sz="11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→ 認識</a:t>
            </a:r>
            <a:endParaRPr lang="en-US" sz="11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→ 翻訳</a:t>
            </a:r>
            <a:endParaRPr lang="en-US" sz="11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→ 整形</a:t>
            </a:r>
            <a:endParaRPr lang="en-US" sz="11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→ 返却</a:t>
            </a:r>
            <a:endParaRPr lang="en-US" sz="11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9189720" y="1143000"/>
            <a:ext cx="2148840" cy="2988116"/>
          </a:xfrm>
          <a:prstGeom prst="roundRect">
            <a:avLst>
              <a:gd name="adj" fmla="val 2727"/>
            </a:avLst>
          </a:prstGeom>
          <a:solidFill>
            <a:srgbClr val="EAF7EE"/>
          </a:solidFill>
          <a:ln w="12700">
            <a:solidFill>
              <a:srgbClr val="D9E2EC"/>
            </a:solidFill>
            <a:prstDash val="solid"/>
          </a:ln>
          <a:effectLst>
            <a:outerShdw blurRad="1651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9320784" y="1293075"/>
            <a:ext cx="2084832" cy="298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Output</a:t>
            </a:r>
            <a:endParaRPr lang="en-US" sz="16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9336024" y="1591887"/>
            <a:ext cx="2084832" cy="2227505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テキスト出力</a:t>
            </a:r>
            <a:endParaRPr lang="en-US" sz="11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・STT 結果</a:t>
            </a:r>
            <a:endParaRPr lang="en-US" sz="11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・翻訳結果表示</a:t>
            </a:r>
            <a:endParaRPr lang="en-US" sz="11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pPr marL="0" indent="0">
              <a:buNone/>
            </a:pPr>
            <a:endParaRPr lang="en-US" sz="11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音声出力</a:t>
            </a:r>
            <a:endParaRPr lang="en-US" sz="11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・TTS による読み上げ</a:t>
            </a:r>
            <a:endParaRPr lang="en-US" sz="11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777240" y="4369743"/>
            <a:ext cx="10561320" cy="1627741"/>
          </a:xfrm>
          <a:prstGeom prst="roundRect">
            <a:avLst>
              <a:gd name="adj" fmla="val 4138"/>
            </a:avLst>
          </a:prstGeom>
          <a:solidFill>
            <a:srgbClr val="F6F0E8"/>
          </a:solidFill>
          <a:ln w="12700">
            <a:solidFill>
              <a:srgbClr val="D9E2EC"/>
            </a:solidFill>
            <a:prstDash val="solid"/>
          </a:ln>
          <a:effectLst>
            <a:outerShdw blurRad="1651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923544" y="4531964"/>
            <a:ext cx="10268712" cy="24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設計上の重要ポイント</a:t>
            </a:r>
            <a:endParaRPr lang="en-US" sz="16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923544" y="4798628"/>
            <a:ext cx="10268712" cy="9990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本企画は「入力→翻訳→出力」の単発処理ではなく、ユーザー環境のあらゆる情報を翻訳可能にする共通基盤を目指す。</a:t>
            </a:r>
            <a:endParaRPr lang="en-US" sz="11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そのため、個別機能ではなく、Input/Output の自由度を持つプラットフォーム設計が中心になる。</a:t>
            </a:r>
            <a:endParaRPr lang="en-US" sz="11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173A5E"/>
          </a:solidFill>
          <a:ln w="12700">
            <a:solidFill>
              <a:srgbClr val="173A5E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3" name="Text 1"/>
          <p:cNvSpPr/>
          <p:nvPr/>
        </p:nvSpPr>
        <p:spPr>
          <a:xfrm>
            <a:off x="420624" y="115932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5. 現在実装と長期構想の関係</a:t>
            </a:r>
            <a:endParaRPr lang="en-US" sz="25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4" name="Text 2"/>
          <p:cNvSpPr/>
          <p:nvPr/>
        </p:nvSpPr>
        <p:spPr>
          <a:xfrm>
            <a:off x="438912" y="576072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現状コードは小説 + 音声を入口とした第一フェーズに位置づく</a:t>
            </a:r>
            <a:endParaRPr lang="en-US" sz="105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5" name="Text 3"/>
          <p:cNvSpPr/>
          <p:nvPr/>
        </p:nvSpPr>
        <p:spPr>
          <a:xfrm>
            <a:off x="9829800" y="6537960"/>
            <a:ext cx="1828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TranslaCat | 企画ドラフト</a:t>
            </a:r>
            <a:endParaRPr lang="en-US" sz="9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3337560" cy="2743200"/>
          </a:xfrm>
          <a:prstGeom prst="roundRect">
            <a:avLst>
              <a:gd name="adj" fmla="val 2000"/>
            </a:avLst>
          </a:prstGeom>
          <a:solidFill>
            <a:srgbClr val="EAF2FB"/>
          </a:solidFill>
          <a:ln w="12700">
            <a:solidFill>
              <a:srgbClr val="D9E2EC"/>
            </a:solidFill>
            <a:prstDash val="solid"/>
          </a:ln>
          <a:effectLst>
            <a:outerShdw blurRad="1651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7" name="Text 5"/>
          <p:cNvSpPr/>
          <p:nvPr/>
        </p:nvSpPr>
        <p:spPr>
          <a:xfrm>
            <a:off x="877824" y="1444752"/>
            <a:ext cx="3044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現状実装（確認済み）</a:t>
            </a:r>
            <a:endParaRPr lang="en-US" sz="16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8" name="Text 6"/>
          <p:cNvSpPr/>
          <p:nvPr/>
        </p:nvSpPr>
        <p:spPr>
          <a:xfrm>
            <a:off x="877824" y="1728216"/>
            <a:ext cx="3044952" cy="22311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・Web 小説探索 / 詳細閲覧</a:t>
            </a:r>
            <a:endParaRPr lang="en-US" sz="11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・本文翻訳 / ふりがな補助</a:t>
            </a:r>
            <a:endParaRPr lang="en-US" sz="11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・辞書登録による品質補正</a:t>
            </a:r>
            <a:endParaRPr lang="en-US" sz="11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・音声翻訳の基盤</a:t>
            </a:r>
            <a:endParaRPr lang="en-US" sz="11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・FastAPI による翻訳/STT エンドポイント</a:t>
            </a:r>
            <a:endParaRPr lang="en-US" sz="11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pPr marL="0" indent="0">
              <a:buNone/>
            </a:pPr>
            <a:endParaRPr lang="en-US" sz="11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=&gt; 特定ユースケースから価値検証する段階</a:t>
            </a:r>
            <a:endParaRPr lang="en-US" sz="11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434840" y="1325880"/>
            <a:ext cx="3337560" cy="2743200"/>
          </a:xfrm>
          <a:prstGeom prst="roundRect">
            <a:avLst>
              <a:gd name="adj" fmla="val 2000"/>
            </a:avLst>
          </a:prstGeom>
          <a:solidFill>
            <a:srgbClr val="EAF7EE"/>
          </a:solidFill>
          <a:ln w="12700">
            <a:solidFill>
              <a:srgbClr val="D9E2EC"/>
            </a:solidFill>
            <a:prstDash val="solid"/>
          </a:ln>
          <a:effectLst>
            <a:outerShdw blurRad="1651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581144" y="1444752"/>
            <a:ext cx="3044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中期拡張</a:t>
            </a:r>
            <a:endParaRPr lang="en-US" sz="16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581144" y="1728216"/>
            <a:ext cx="3044952" cy="22311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・動画音声の即時翻訳</a:t>
            </a:r>
            <a:endParaRPr lang="en-US" sz="11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・システムサウンド入力の安定化</a:t>
            </a:r>
            <a:endParaRPr lang="en-US" sz="11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・TTS による自然な読み上げ</a:t>
            </a:r>
            <a:endParaRPr lang="en-US" sz="11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・対応言語の拡張</a:t>
            </a:r>
            <a:endParaRPr lang="en-US" sz="11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・翻訳履歴 / セッションの強化</a:t>
            </a:r>
            <a:endParaRPr lang="en-US" sz="11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pPr marL="0" indent="0">
              <a:buNone/>
            </a:pPr>
            <a:endParaRPr lang="en-US" sz="11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=&gt; マルチモーダル翻訳体験へ拡張</a:t>
            </a:r>
            <a:endParaRPr lang="en-US" sz="11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8138160" y="1325880"/>
            <a:ext cx="3337560" cy="2743200"/>
          </a:xfrm>
          <a:prstGeom prst="roundRect">
            <a:avLst>
              <a:gd name="adj" fmla="val 2000"/>
            </a:avLst>
          </a:prstGeom>
          <a:solidFill>
            <a:srgbClr val="FCEFE6"/>
          </a:solidFill>
          <a:ln w="12700">
            <a:solidFill>
              <a:srgbClr val="D9E2EC"/>
            </a:solidFill>
            <a:prstDash val="solid"/>
          </a:ln>
          <a:effectLst>
            <a:outerShdw blurRad="1651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284464" y="1444752"/>
            <a:ext cx="3044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長期ビジョン</a:t>
            </a:r>
            <a:endParaRPr lang="en-US" sz="16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284464" y="1728216"/>
            <a:ext cx="3044952" cy="22311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・あらゆる言語間の理解支援</a:t>
            </a:r>
            <a:endParaRPr lang="en-US" sz="11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・コンテンツ閲覧、会話、学習を横断</a:t>
            </a:r>
            <a:endParaRPr lang="en-US" sz="11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・翻訳を「機能」ではなく「基盤」として提供</a:t>
            </a:r>
            <a:endParaRPr lang="en-US" sz="11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pPr marL="0" indent="0">
              <a:buNone/>
            </a:pPr>
            <a:endParaRPr lang="en-US" sz="11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=&gt; 世界中の言語障壁を下げるプラットフォーム</a:t>
            </a:r>
            <a:endParaRPr lang="en-US" sz="11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822960" y="4526280"/>
            <a:ext cx="10515600" cy="914400"/>
          </a:xfrm>
          <a:prstGeom prst="roundRect">
            <a:avLst>
              <a:gd name="adj" fmla="val 6000"/>
            </a:avLst>
          </a:prstGeom>
          <a:solidFill>
            <a:srgbClr val="F2ECFB"/>
          </a:solidFill>
          <a:ln w="12700">
            <a:solidFill>
              <a:srgbClr val="D9E2EC"/>
            </a:solidFill>
            <a:prstDash val="solid"/>
          </a:ln>
          <a:effectLst>
            <a:outerShdw blurRad="1651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969264" y="4645152"/>
            <a:ext cx="10222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企画上の位置付け</a:t>
            </a:r>
            <a:endParaRPr lang="en-US" sz="16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969264" y="4928616"/>
            <a:ext cx="10222992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現在の実装は最終形ではなく、最終ビジョンへ向かう最初の検証フェーズである。</a:t>
            </a:r>
            <a:endParaRPr lang="en-US" sz="11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173A5E"/>
          </a:solidFill>
          <a:ln w="12700">
            <a:solidFill>
              <a:srgbClr val="173A5E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3" name="Text 1"/>
          <p:cNvSpPr/>
          <p:nvPr/>
        </p:nvSpPr>
        <p:spPr>
          <a:xfrm>
            <a:off x="420624" y="115932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6. 想定利用シナリオ</a:t>
            </a:r>
            <a:endParaRPr lang="en-US" sz="25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4" name="Text 2"/>
          <p:cNvSpPr/>
          <p:nvPr/>
        </p:nvSpPr>
        <p:spPr>
          <a:xfrm>
            <a:off x="438912" y="576072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企画の価値が発揮される代表シーン</a:t>
            </a:r>
            <a:endParaRPr lang="en-US" sz="105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5" name="Text 3"/>
          <p:cNvSpPr/>
          <p:nvPr/>
        </p:nvSpPr>
        <p:spPr>
          <a:xfrm>
            <a:off x="9829800" y="6537960"/>
            <a:ext cx="1828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TranslaCat | 企画ドラフト</a:t>
            </a:r>
            <a:endParaRPr lang="en-US" sz="9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6" name="Shape 4"/>
          <p:cNvSpPr/>
          <p:nvPr/>
        </p:nvSpPr>
        <p:spPr>
          <a:xfrm>
            <a:off x="731520" y="1280159"/>
            <a:ext cx="3234690" cy="2782059"/>
          </a:xfrm>
          <a:prstGeom prst="roundRect">
            <a:avLst>
              <a:gd name="adj" fmla="val 2727"/>
            </a:avLst>
          </a:prstGeom>
          <a:solidFill>
            <a:srgbClr val="EAF2FB"/>
          </a:solidFill>
          <a:ln w="12700">
            <a:solidFill>
              <a:srgbClr val="D9E2EC"/>
            </a:solidFill>
            <a:prstDash val="solid"/>
          </a:ln>
          <a:effectLst>
            <a:outerShdw blurRad="1651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7" name="Text 5"/>
          <p:cNvSpPr/>
          <p:nvPr/>
        </p:nvSpPr>
        <p:spPr>
          <a:xfrm>
            <a:off x="877824" y="1521495"/>
            <a:ext cx="2889656" cy="2782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シナリオA</a:t>
            </a:r>
            <a:endParaRPr lang="en-US" sz="16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海外 Web 小説を読む</a:t>
            </a:r>
            <a:endParaRPr lang="en-US" sz="16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8" name="Text 6"/>
          <p:cNvSpPr/>
          <p:nvPr/>
        </p:nvSpPr>
        <p:spPr>
          <a:xfrm>
            <a:off x="877824" y="1682495"/>
            <a:ext cx="2889656" cy="207389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ユーザーは日本語の小説を検索し、作品詳細を確認し、本文を原文・補助情報付きで読む。</a:t>
            </a:r>
            <a:endParaRPr lang="en-US" sz="11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必要に応じて辞書補正を行い、次回以降の読解体験を改善する。</a:t>
            </a:r>
            <a:endParaRPr lang="en-US" sz="11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211140" y="1280159"/>
            <a:ext cx="3234690" cy="2782059"/>
          </a:xfrm>
          <a:prstGeom prst="roundRect">
            <a:avLst>
              <a:gd name="adj" fmla="val 2727"/>
            </a:avLst>
          </a:prstGeom>
          <a:solidFill>
            <a:srgbClr val="EAF7EE"/>
          </a:solidFill>
          <a:ln w="12700">
            <a:solidFill>
              <a:srgbClr val="D9E2EC"/>
            </a:solidFill>
            <a:prstDash val="solid"/>
          </a:ln>
          <a:effectLst>
            <a:outerShdw blurRad="1651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357444" y="1521495"/>
            <a:ext cx="2889656" cy="2782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シナリオB</a:t>
            </a:r>
            <a:endParaRPr lang="en-US" sz="16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配信や動画を理解する</a:t>
            </a:r>
            <a:endParaRPr lang="en-US" sz="16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357444" y="1682495"/>
            <a:ext cx="2889656" cy="207389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動画や配信から流れる音声・システム音を文字化/翻訳し、聞き取れない部分を即時に補う。</a:t>
            </a:r>
            <a:endParaRPr lang="en-US" sz="11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将来的には音声読み上げによる返却も可能にする。</a:t>
            </a:r>
            <a:endParaRPr lang="en-US" sz="11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682592" y="1280159"/>
            <a:ext cx="3747407" cy="2782059"/>
          </a:xfrm>
          <a:prstGeom prst="roundRect">
            <a:avLst>
              <a:gd name="adj" fmla="val 2727"/>
            </a:avLst>
          </a:prstGeom>
          <a:solidFill>
            <a:srgbClr val="FCEFE6"/>
          </a:solidFill>
          <a:ln w="12700">
            <a:solidFill>
              <a:srgbClr val="D9E2EC"/>
            </a:solidFill>
            <a:prstDash val="solid"/>
          </a:ln>
          <a:effectLst>
            <a:outerShdw blurRad="1651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776122" y="1521495"/>
            <a:ext cx="3507573" cy="2782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シナリオC</a:t>
            </a:r>
            <a:endParaRPr lang="en-US" sz="16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会話・コミュニケーションを支援する</a:t>
            </a:r>
            <a:endParaRPr lang="en-US" sz="16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776122" y="1682495"/>
            <a:ext cx="3507573" cy="207389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自分または相手の発話をリアルタイムに翻訳し、</a:t>
            </a:r>
            <a:endParaRPr lang="en-US" sz="11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必要ならテキストで確認し、必要なら音声で返す。</a:t>
            </a:r>
            <a:endParaRPr lang="en-US" sz="11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学習支援だけでなく、実用的な会話補助ツールになる。</a:t>
            </a:r>
            <a:endParaRPr lang="en-US" sz="11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77240" y="4467495"/>
            <a:ext cx="10561320" cy="1508760"/>
          </a:xfrm>
          <a:prstGeom prst="roundRect">
            <a:avLst>
              <a:gd name="adj" fmla="val 3636"/>
            </a:avLst>
          </a:prstGeom>
          <a:solidFill>
            <a:srgbClr val="F6F0E8"/>
          </a:solidFill>
          <a:ln w="12700">
            <a:solidFill>
              <a:srgbClr val="D9E2EC"/>
            </a:solidFill>
            <a:prstDash val="solid"/>
          </a:ln>
          <a:effectLst>
            <a:outerShdw blurRad="1651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923544" y="4651679"/>
            <a:ext cx="10268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共通する体験の本質</a:t>
            </a:r>
            <a:endParaRPr lang="en-US" sz="16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923544" y="4881915"/>
            <a:ext cx="10268712" cy="829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どのシーンでも、ユーザーは「翻訳機能そのもの」を使いたいのではなく、言語を意識せずにコンテンツや相手を理解したい。</a:t>
            </a:r>
            <a:endParaRPr lang="en-US" sz="11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TranslaCat はその理解を裏側で支える存在である。</a:t>
            </a:r>
            <a:endParaRPr lang="en-US" sz="11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173A5E"/>
          </a:solidFill>
          <a:ln w="12700">
            <a:solidFill>
              <a:srgbClr val="173A5E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3" name="Text 1"/>
          <p:cNvSpPr/>
          <p:nvPr/>
        </p:nvSpPr>
        <p:spPr>
          <a:xfrm>
            <a:off x="420624" y="115932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7. 企画の差別化ポイント</a:t>
            </a:r>
            <a:endParaRPr lang="en-US" sz="25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4" name="Text 2"/>
          <p:cNvSpPr/>
          <p:nvPr/>
        </p:nvSpPr>
        <p:spPr>
          <a:xfrm>
            <a:off x="438912" y="576072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単一用途の翻訳ツールではなく、理解体験をつなぐ点に特徴がある</a:t>
            </a:r>
            <a:endParaRPr lang="en-US" sz="105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5" name="Text 3"/>
          <p:cNvSpPr/>
          <p:nvPr/>
        </p:nvSpPr>
        <p:spPr>
          <a:xfrm>
            <a:off x="9829800" y="6537960"/>
            <a:ext cx="1828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TranslaCat | 企画ドラフト</a:t>
            </a:r>
            <a:endParaRPr lang="en-US" sz="9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6" name="Shape 4"/>
          <p:cNvSpPr/>
          <p:nvPr/>
        </p:nvSpPr>
        <p:spPr>
          <a:xfrm>
            <a:off x="777240" y="1280160"/>
            <a:ext cx="3383280" cy="2602120"/>
          </a:xfrm>
          <a:prstGeom prst="roundRect">
            <a:avLst>
              <a:gd name="adj" fmla="val 3243"/>
            </a:avLst>
          </a:prstGeom>
          <a:solidFill>
            <a:srgbClr val="EAF2FB"/>
          </a:solidFill>
          <a:ln w="12700">
            <a:solidFill>
              <a:srgbClr val="D9E2EC"/>
            </a:solidFill>
            <a:prstDash val="solid"/>
          </a:ln>
          <a:effectLst>
            <a:outerShdw blurRad="1651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7" name="Text 5"/>
          <p:cNvSpPr/>
          <p:nvPr/>
        </p:nvSpPr>
        <p:spPr>
          <a:xfrm>
            <a:off x="923544" y="1480674"/>
            <a:ext cx="3090672" cy="309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差別化①</a:t>
            </a:r>
            <a:endParaRPr lang="en-US" sz="16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入力形式の統合</a:t>
            </a:r>
            <a:endParaRPr lang="en-US" sz="16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8" name="Text 6"/>
          <p:cNvSpPr/>
          <p:nvPr/>
        </p:nvSpPr>
        <p:spPr>
          <a:xfrm>
            <a:off x="923544" y="1682495"/>
            <a:ext cx="3090672" cy="181445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テキスト、マイク音声、システムサウンドを一つの思想で扱う。</a:t>
            </a:r>
            <a:endParaRPr lang="en-US" sz="11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「どこから情報が来たか」より「何を理解したいか」を優先する。</a:t>
            </a:r>
            <a:endParaRPr lang="en-US" sz="11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389120" y="1280160"/>
            <a:ext cx="3383280" cy="2602120"/>
          </a:xfrm>
          <a:prstGeom prst="roundRect">
            <a:avLst>
              <a:gd name="adj" fmla="val 3243"/>
            </a:avLst>
          </a:prstGeom>
          <a:solidFill>
            <a:srgbClr val="EAF7EE"/>
          </a:solidFill>
          <a:ln w="12700">
            <a:solidFill>
              <a:srgbClr val="D9E2EC"/>
            </a:solidFill>
            <a:prstDash val="solid"/>
          </a:ln>
          <a:effectLst>
            <a:outerShdw blurRad="1651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535424" y="1480674"/>
            <a:ext cx="3090672" cy="309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差別化②</a:t>
            </a:r>
            <a:endParaRPr lang="en-US" sz="16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出力形式の柔軟性</a:t>
            </a:r>
            <a:endParaRPr lang="en-US" sz="16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535424" y="1682495"/>
            <a:ext cx="3090672" cy="181445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翻訳結果を文字として返すだけでなく、音声として返す世界観を持つ。</a:t>
            </a:r>
            <a:endParaRPr lang="en-US" sz="11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ユーザーごとの理解しやすさに合わせて出力を変えられる。</a:t>
            </a:r>
            <a:endParaRPr lang="en-US" sz="11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8001000" y="1280160"/>
            <a:ext cx="3383280" cy="2602120"/>
          </a:xfrm>
          <a:prstGeom prst="roundRect">
            <a:avLst>
              <a:gd name="adj" fmla="val 3243"/>
            </a:avLst>
          </a:prstGeom>
          <a:solidFill>
            <a:srgbClr val="FCEFE6"/>
          </a:solidFill>
          <a:ln w="12700">
            <a:solidFill>
              <a:srgbClr val="D9E2EC"/>
            </a:solidFill>
            <a:prstDash val="solid"/>
          </a:ln>
          <a:effectLst>
            <a:outerShdw blurRad="1651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147304" y="1480674"/>
            <a:ext cx="3090672" cy="309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差別化③</a:t>
            </a:r>
            <a:endParaRPr lang="en-US" sz="16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学習・娯楽・会話を横断</a:t>
            </a:r>
            <a:endParaRPr lang="en-US" sz="16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147304" y="1682495"/>
            <a:ext cx="3090672" cy="181445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Web 小説、動画、ゲーム、会議など、利用場面を限定しない。</a:t>
            </a:r>
            <a:endParaRPr lang="en-US" sz="11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翻訳機能を分断せず、一つのプラットフォームで扱う。</a:t>
            </a:r>
            <a:endParaRPr lang="en-US" sz="11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822960" y="4147456"/>
            <a:ext cx="1056132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651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969264" y="4266328"/>
            <a:ext cx="10268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企画メッセージ</a:t>
            </a:r>
            <a:endParaRPr lang="en-US" sz="16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969264" y="4549792"/>
            <a:ext cx="10268712" cy="13167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TranslaCat は「翻訳精度だけを競うプロダクト」ではなく、</a:t>
            </a:r>
            <a:endParaRPr lang="en-US" sz="11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“入力と出力の境界をなくし、言語の違いによる体験断絶を減らすプロダクト”として定義する。</a:t>
            </a:r>
            <a:endParaRPr lang="en-US" sz="11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173A5E"/>
          </a:solidFill>
          <a:ln w="12700">
            <a:solidFill>
              <a:srgbClr val="173A5E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3" name="Text 1"/>
          <p:cNvSpPr/>
          <p:nvPr/>
        </p:nvSpPr>
        <p:spPr>
          <a:xfrm>
            <a:off x="420624" y="115932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8. フェーズ設計と成長シナリオ</a:t>
            </a:r>
            <a:endParaRPr lang="en-US" sz="25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4" name="Text 2"/>
          <p:cNvSpPr/>
          <p:nvPr/>
        </p:nvSpPr>
        <p:spPr>
          <a:xfrm>
            <a:off x="438912" y="576072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段階的に機能を広げ、最終的に多言語基盤へ成長させる</a:t>
            </a:r>
            <a:endParaRPr lang="en-US" sz="105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5" name="Text 3"/>
          <p:cNvSpPr/>
          <p:nvPr/>
        </p:nvSpPr>
        <p:spPr>
          <a:xfrm>
            <a:off x="9829800" y="6537960"/>
            <a:ext cx="1828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TranslaCat | 企画ドラフト</a:t>
            </a:r>
            <a:endParaRPr lang="en-US" sz="9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286000" y="2148840"/>
            <a:ext cx="1545336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385816" y="2148840"/>
            <a:ext cx="1618488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8" name="Shape 6"/>
          <p:cNvSpPr/>
          <p:nvPr/>
        </p:nvSpPr>
        <p:spPr>
          <a:xfrm>
            <a:off x="8558784" y="2148840"/>
            <a:ext cx="1545336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31520" y="1417320"/>
            <a:ext cx="1554480" cy="1325880"/>
          </a:xfrm>
          <a:prstGeom prst="roundRect">
            <a:avLst>
              <a:gd name="adj" fmla="val 4138"/>
            </a:avLst>
          </a:prstGeom>
          <a:solidFill>
            <a:srgbClr val="EAF2FB"/>
          </a:solidFill>
          <a:ln w="12700">
            <a:solidFill>
              <a:srgbClr val="D9E2EC"/>
            </a:solidFill>
            <a:prstDash val="solid"/>
          </a:ln>
          <a:effectLst>
            <a:outerShdw blurRad="1651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10" name="Text 8"/>
          <p:cNvSpPr/>
          <p:nvPr/>
        </p:nvSpPr>
        <p:spPr>
          <a:xfrm>
            <a:off x="918644" y="1536192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Phase 1</a:t>
            </a:r>
            <a:endParaRPr lang="en-US" sz="16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11" name="Text 9"/>
          <p:cNvSpPr/>
          <p:nvPr/>
        </p:nvSpPr>
        <p:spPr>
          <a:xfrm>
            <a:off x="918644" y="1819656"/>
            <a:ext cx="1261872" cy="813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小説 + 音声</a:t>
            </a:r>
            <a:endParaRPr lang="en-US" sz="11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価値検証</a:t>
            </a:r>
            <a:endParaRPr lang="en-US" sz="11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831336" y="1403604"/>
            <a:ext cx="1554480" cy="1325880"/>
          </a:xfrm>
          <a:prstGeom prst="roundRect">
            <a:avLst>
              <a:gd name="adj" fmla="val 4138"/>
            </a:avLst>
          </a:prstGeom>
          <a:solidFill>
            <a:srgbClr val="EAF7EE"/>
          </a:solidFill>
          <a:ln w="12700">
            <a:solidFill>
              <a:srgbClr val="D9E2EC"/>
            </a:solidFill>
            <a:prstDash val="solid"/>
          </a:ln>
          <a:effectLst>
            <a:outerShdw blurRad="1651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009648" y="1536192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Phase 2</a:t>
            </a:r>
            <a:endParaRPr lang="en-US" sz="16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009648" y="1819656"/>
            <a:ext cx="1261872" cy="813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動画 / 配信</a:t>
            </a:r>
            <a:endParaRPr lang="en-US" sz="11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システム音対応</a:t>
            </a:r>
            <a:endParaRPr lang="en-US" sz="11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004304" y="1417320"/>
            <a:ext cx="1554480" cy="1325880"/>
          </a:xfrm>
          <a:prstGeom prst="roundRect">
            <a:avLst>
              <a:gd name="adj" fmla="val 4138"/>
            </a:avLst>
          </a:prstGeom>
          <a:solidFill>
            <a:srgbClr val="FCEFE6"/>
          </a:solidFill>
          <a:ln w="12700">
            <a:solidFill>
              <a:srgbClr val="D9E2EC"/>
            </a:solidFill>
            <a:prstDash val="solid"/>
          </a:ln>
          <a:effectLst>
            <a:outerShdw blurRad="1651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172489" y="1536192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Phase 3</a:t>
            </a:r>
            <a:endParaRPr lang="en-US" sz="16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172489" y="1819656"/>
            <a:ext cx="1261872" cy="813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TTS / 多言語</a:t>
            </a:r>
            <a:endParaRPr lang="en-US" sz="11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双方向支援</a:t>
            </a:r>
            <a:endParaRPr lang="en-US" sz="11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10104120" y="1417320"/>
            <a:ext cx="1554480" cy="1325880"/>
          </a:xfrm>
          <a:prstGeom prst="roundRect">
            <a:avLst>
              <a:gd name="adj" fmla="val 6000"/>
            </a:avLst>
          </a:prstGeom>
          <a:solidFill>
            <a:srgbClr val="F2ECFB"/>
          </a:solidFill>
          <a:ln w="12700">
            <a:solidFill>
              <a:srgbClr val="D9E2EC"/>
            </a:solidFill>
            <a:prstDash val="solid"/>
          </a:ln>
          <a:effectLst>
            <a:outerShdw blurRad="1651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0253693" y="1536192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Goal</a:t>
            </a:r>
            <a:endParaRPr lang="en-US" sz="16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0253693" y="1819656"/>
            <a:ext cx="621792" cy="813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翻訳基盤</a:t>
            </a:r>
            <a:endParaRPr lang="en-US" sz="11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868680" y="3657600"/>
            <a:ext cx="10469880" cy="1600200"/>
          </a:xfrm>
          <a:prstGeom prst="roundRect">
            <a:avLst>
              <a:gd name="adj" fmla="val 3429"/>
            </a:avLst>
          </a:prstGeom>
          <a:solidFill>
            <a:srgbClr val="F6F0E8"/>
          </a:solidFill>
          <a:ln w="12700">
            <a:solidFill>
              <a:srgbClr val="D9E2EC"/>
            </a:solidFill>
            <a:prstDash val="solid"/>
          </a:ln>
          <a:effectLst>
            <a:outerShdw blurRad="1651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014984" y="3776472"/>
            <a:ext cx="101772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成長戦略の考え方</a:t>
            </a:r>
            <a:endParaRPr lang="en-US" sz="16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014984" y="4059936"/>
            <a:ext cx="10177272" cy="10881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まずは明確な価値が出やすいユースケース（小説閲覧・音声翻訳）で体験を磨き、</a:t>
            </a:r>
            <a:endParaRPr lang="en-US" sz="11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その後 Input/Output の対象を段階的に広げていく。</a:t>
            </a:r>
            <a:endParaRPr lang="en-US" sz="11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最初から全領域を一気に取るのではなく、共通基盤を強くしながら面を広げる。</a:t>
            </a:r>
            <a:endParaRPr lang="en-US" sz="11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173A5E"/>
          </a:solidFill>
          <a:ln w="12700">
            <a:solidFill>
              <a:srgbClr val="173A5E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3" name="Text 1"/>
          <p:cNvSpPr/>
          <p:nvPr/>
        </p:nvSpPr>
        <p:spPr>
          <a:xfrm>
            <a:off x="420624" y="115932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9. まとめ</a:t>
            </a:r>
            <a:endParaRPr lang="en-US" sz="25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4" name="Text 2"/>
          <p:cNvSpPr/>
          <p:nvPr/>
        </p:nvSpPr>
        <p:spPr>
          <a:xfrm>
            <a:off x="438912" y="576072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TranslaCat が目指すもの</a:t>
            </a:r>
            <a:endParaRPr lang="en-US" sz="105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5" name="Text 3"/>
          <p:cNvSpPr/>
          <p:nvPr/>
        </p:nvSpPr>
        <p:spPr>
          <a:xfrm>
            <a:off x="9829800" y="6537960"/>
            <a:ext cx="1828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TranslaCat | 企画ドラフト</a:t>
            </a:r>
            <a:endParaRPr lang="en-US" sz="9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10698480" cy="438912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651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7" name="Text 5"/>
          <p:cNvSpPr/>
          <p:nvPr/>
        </p:nvSpPr>
        <p:spPr>
          <a:xfrm>
            <a:off x="877824" y="1518231"/>
            <a:ext cx="10405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最終メッセージ</a:t>
            </a:r>
            <a:endParaRPr lang="en-US" sz="16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8" name="Text 6"/>
          <p:cNvSpPr/>
          <p:nvPr/>
        </p:nvSpPr>
        <p:spPr>
          <a:xfrm>
            <a:off x="877824" y="1728216"/>
            <a:ext cx="10405872" cy="38770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TranslaCat は、特定のテキスト翻訳機能や単発の音声翻訳機能に留まらない。</a:t>
            </a:r>
            <a:endParaRPr lang="en-US" sz="11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pPr marL="0" indent="0">
              <a:buNone/>
            </a:pPr>
            <a:endParaRPr lang="en-US" sz="11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ユーザーの周囲で発生するあらゆる「文字」と「音」を翻訳可能な対象として捉え、</a:t>
            </a:r>
            <a:endParaRPr lang="en-US" sz="11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その結果を、テキストまたは音声など、本人がもっとも理解しやすい形で返す。</a:t>
            </a:r>
            <a:endParaRPr lang="en-US" sz="11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pPr marL="0" indent="0">
              <a:buNone/>
            </a:pPr>
            <a:endParaRPr lang="en-US" sz="11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そのための第一歩として、現状は Web 小説と音声翻訳を入口に価値検証を進めているが、</a:t>
            </a:r>
            <a:endParaRPr lang="en-US" sz="11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本質的なゴールは、言語問題で困る世界中の人々が自然に理解し合える“翻訳そのもののプラットフォーム”になることにある。</a:t>
            </a:r>
            <a:endParaRPr lang="en-US" sz="11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pPr marL="0" indent="0">
              <a:buNone/>
            </a:pPr>
            <a:endParaRPr lang="en-US" sz="11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この企画は、その長期ビジョンを実現するための出発点である。</a:t>
            </a:r>
            <a:endParaRPr lang="en-US" sz="11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</TotalTime>
  <Words>681</Words>
  <Application>Microsoft Office PowerPoint</Application>
  <PresentationFormat>ワイド画面</PresentationFormat>
  <Paragraphs>222</Paragraphs>
  <Slides>10</Slides>
  <Notes>10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10</vt:i4>
      </vt:variant>
    </vt:vector>
  </HeadingPairs>
  <TitlesOfParts>
    <vt:vector size="14" baseType="lpstr">
      <vt:lpstr>Meiryo UI</vt:lpstr>
      <vt:lpstr>游ゴシック</vt:lpstr>
      <vt:lpstr>Arial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TranslaCat 企画書</dc:title>
  <dc:subject>TranslaCat 企画書</dc:subject>
  <dc:creator>OpenAI</dc:creator>
  <cp:lastModifiedBy>Jongseon Yim</cp:lastModifiedBy>
  <cp:revision>8</cp:revision>
  <dcterms:created xsi:type="dcterms:W3CDTF">2026-03-13T02:21:48Z</dcterms:created>
  <dcterms:modified xsi:type="dcterms:W3CDTF">2026-03-13T04:58:15Z</dcterms:modified>
</cp:coreProperties>
</file>